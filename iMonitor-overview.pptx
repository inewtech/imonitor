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629b1676f845a1" /><Relationship Type="http://schemas.openxmlformats.org/officeDocument/2006/relationships/extended-properties" Target="/docProps/app.xml" Id="R2e892a340a434a0b" /><Relationship Type="http://schemas.openxmlformats.org/officeDocument/2006/relationships/officeDocument" Target="/ppt/presentation.xml" Id="R2ef5909f05784e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316a4e7b114f9c"/>
  </p:sldMasterIdLst>
  <p:notesMasterIdLst>
    <p:notesMasterId xmlns:r="http://schemas.openxmlformats.org/officeDocument/2006/relationships" r:id="Rd8b03104fd9e4919"/>
  </p:notesMasterIdLst>
  <p:sldIdLst>
    <p:sldId xmlns:r="http://schemas.openxmlformats.org/officeDocument/2006/relationships" id="256" r:id="Rc6b8dd0b15b246d4"/>
    <p:sldId xmlns:r="http://schemas.openxmlformats.org/officeDocument/2006/relationships" id="257" r:id="R68466c32f634429f"/>
    <p:sldId xmlns:r="http://schemas.openxmlformats.org/officeDocument/2006/relationships" id="258" r:id="R1172140c4da94e51"/>
    <p:sldId xmlns:r="http://schemas.openxmlformats.org/officeDocument/2006/relationships" id="259" r:id="R056c4b6f94af4801"/>
    <p:sldId xmlns:r="http://schemas.openxmlformats.org/officeDocument/2006/relationships" id="260" r:id="R4c425c79eedd4c53"/>
    <p:sldId xmlns:r="http://schemas.openxmlformats.org/officeDocument/2006/relationships" id="261" r:id="R97edcbc62a364930"/>
    <p:sldId xmlns:r="http://schemas.openxmlformats.org/officeDocument/2006/relationships" id="262" r:id="Rfe08a2f89ef740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a2db125b1c4816" /><Relationship Type="http://schemas.openxmlformats.org/officeDocument/2006/relationships/slideMaster" Target="/ppt/slideMasters/slideMaster1.xml" Id="R2b316a4e7b114f9c" /><Relationship Type="http://schemas.openxmlformats.org/officeDocument/2006/relationships/notesMaster" Target="/ppt/notesMasters/notesMaster1.xml" Id="Rd8b03104fd9e4919" /><Relationship Type="http://schemas.openxmlformats.org/officeDocument/2006/relationships/presProps" Target="/ppt/presProps.xml" Id="Rf1bd59972d004f0b" /><Relationship Type="http://schemas.openxmlformats.org/officeDocument/2006/relationships/tableStyles" Target="/ppt/tableStyles.xml" Id="Rce68cd75e86544fa" /><Relationship Type="http://schemas.openxmlformats.org/officeDocument/2006/relationships/slide" Target="/ppt/slides/slide1.xml" Id="Rc6b8dd0b15b246d4" /><Relationship Type="http://schemas.openxmlformats.org/officeDocument/2006/relationships/slide" Target="/ppt/slides/slide2.xml" Id="R68466c32f634429f" /><Relationship Type="http://schemas.openxmlformats.org/officeDocument/2006/relationships/slide" Target="/ppt/slides/slide3.xml" Id="R1172140c4da94e51" /><Relationship Type="http://schemas.openxmlformats.org/officeDocument/2006/relationships/slide" Target="/ppt/slides/slide4.xml" Id="R056c4b6f94af4801" /><Relationship Type="http://schemas.openxmlformats.org/officeDocument/2006/relationships/slide" Target="/ppt/slides/slide5.xml" Id="R4c425c79eedd4c53" /><Relationship Type="http://schemas.openxmlformats.org/officeDocument/2006/relationships/slide" Target="/ppt/slides/slide6.xml" Id="R97edcbc62a364930" /><Relationship Type="http://schemas.openxmlformats.org/officeDocument/2006/relationships/slide" Target="/ppt/slides/slide7.xml" Id="Rfe08a2f89ef740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23f118c2f541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2bce978c324fba" /><Relationship Type="http://schemas.openxmlformats.org/officeDocument/2006/relationships/notesMaster" Target="/ppt/notesMasters/notesMaster1.xml" Id="R58a1b6edc7f44b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7ddc19858e47b8" /><Relationship Type="http://schemas.openxmlformats.org/officeDocument/2006/relationships/notesMaster" Target="/ppt/notesMasters/notesMaster1.xml" Id="Rf45c45776c3d4d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801fef7fd1407f" /><Relationship Type="http://schemas.openxmlformats.org/officeDocument/2006/relationships/notesMaster" Target="/ppt/notesMasters/notesMaster1.xml" Id="Ra8cb2191c6784b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534692fcce4af7" /><Relationship Type="http://schemas.openxmlformats.org/officeDocument/2006/relationships/notesMaster" Target="/ppt/notesMasters/notesMaster1.xml" Id="R21b61bef156c48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b30d45c10b44a1" /><Relationship Type="http://schemas.openxmlformats.org/officeDocument/2006/relationships/notesMaster" Target="/ppt/notesMasters/notesMaster1.xml" Id="R22c9edf861d842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94e1bbb6cf4ae8" /><Relationship Type="http://schemas.openxmlformats.org/officeDocument/2006/relationships/notesMaster" Target="/ppt/notesMasters/notesMaster1.xml" Id="R33c08fb49f7b44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d6a88d56154ad4" /><Relationship Type="http://schemas.openxmlformats.org/officeDocument/2006/relationships/notesMaster" Target="/ppt/notesMasters/notesMaster1.xml" Id="R22840c7f5f8242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146b659c0b45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9ff6e77acb4c1b" /><Relationship Type="http://schemas.openxmlformats.org/officeDocument/2006/relationships/slideLayout" Target="/ppt/slideLayouts/slideLayout1.xml" Id="R262d0c9cd8024c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2d0c9cd8024c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2256ee2fca4e20" /><Relationship Type="http://schemas.openxmlformats.org/officeDocument/2006/relationships/notesSlide" Target="/ppt/notesSlides/notesSlide1.xml" Id="R85316e9357e748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e2b03239834d04" /><Relationship Type="http://schemas.openxmlformats.org/officeDocument/2006/relationships/notesSlide" Target="/ppt/notesSlides/notesSlide2.xml" Id="R48936cd2d0af40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b95d04cc754c16" /><Relationship Type="http://schemas.openxmlformats.org/officeDocument/2006/relationships/notesSlide" Target="/ppt/notesSlides/notesSlide3.xml" Id="R3b9678d242c84a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1ca3b597de40db" /><Relationship Type="http://schemas.openxmlformats.org/officeDocument/2006/relationships/notesSlide" Target="/ppt/notesSlides/notesSlide4.xml" Id="R35f60abbc41f40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546675d4a64769" /><Relationship Type="http://schemas.openxmlformats.org/officeDocument/2006/relationships/notesSlide" Target="/ppt/notesSlides/notesSlide5.xml" Id="Rb2ff16609ac349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31c0140d9147d1" /><Relationship Type="http://schemas.openxmlformats.org/officeDocument/2006/relationships/notesSlide" Target="/ppt/notesSlides/notesSlide6.xml" Id="Rdd3f97e638d746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7862cb3e93462b" /><Relationship Type="http://schemas.openxmlformats.org/officeDocument/2006/relationships/notesSlide" Target="/ppt/notesSlides/notesSlide7.xml" Id="R4ebe7977bd4b49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6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hape-870-0">
            <a:extLst xmlns:a="http://schemas.openxmlformats.org/drawingml/2006/main">
              <a:ext uri="{FF2B5EF4-FFF2-40B4-BE49-F238E27FC236}">
                <a16:creationId xmlns:a16="http://schemas.microsoft.com/office/drawing/2014/main" id="{F098FAEA-5C39-4C09-8CEB-7EFBDD7E2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390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C52"/>
          </a:solidFill>
          <a:ln xmlns:a="http://schemas.openxmlformats.org/drawingml/2006/main" w="9525">
            <a:solidFill>
              <a:srgbClr val="153C52"/>
            </a:solidFill>
            <a:prstDash val="solid"/>
          </a:ln>
        </p:spPr>
      </p:sp>
      <p:sp>
        <p:nvSpPr>
          <p:cNvPr id="2" name="shape-938-98">
            <a:extLst xmlns:a="http://schemas.openxmlformats.org/drawingml/2006/main">
              <a:ext uri="{FF2B5EF4-FFF2-40B4-BE49-F238E27FC236}">
                <a16:creationId xmlns:a16="http://schemas.microsoft.com/office/drawing/2014/main" id="{DBB1BBEE-BA3A-4741-986A-EB4D1F71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933450"/>
            <a:ext cx="13525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9B867"/>
          </a:solidFill>
          <a:ln xmlns:a="http://schemas.openxmlformats.org/drawingml/2006/main" w="9525">
            <a:solidFill>
              <a:srgbClr val="E9B867"/>
            </a:solidFill>
            <a:prstDash val="solid"/>
          </a:ln>
        </p:spPr>
      </p:sp>
      <p:sp>
        <p:nvSpPr>
          <p:cNvPr id="3" name="shape-963-123">
            <a:extLst xmlns:a="http://schemas.openxmlformats.org/drawingml/2006/main">
              <a:ext uri="{FF2B5EF4-FFF2-40B4-BE49-F238E27FC236}">
                <a16:creationId xmlns:a16="http://schemas.microsoft.com/office/drawing/2014/main" id="{991A3D6F-A6C9-457C-BE15-6AED4371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171575"/>
            <a:ext cx="876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D8175"/>
          </a:solidFill>
          <a:ln xmlns:a="http://schemas.openxmlformats.org/drawingml/2006/main" w="9525">
            <a:solidFill>
              <a:srgbClr val="1D8175"/>
            </a:solidFill>
            <a:prstDash val="solid"/>
          </a:ln>
        </p:spPr>
      </p:sp>
      <p:sp>
        <p:nvSpPr>
          <p:cNvPr id="4" name="text-982-136">
            <a:extLst xmlns:a="http://schemas.openxmlformats.org/drawingml/2006/main">
              <a:ext uri="{FF2B5EF4-FFF2-40B4-BE49-F238E27FC236}">
                <a16:creationId xmlns:a16="http://schemas.microsoft.com/office/drawing/2014/main" id="{4D4A5D8C-7E40-4DDB-B6DE-55F74699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29540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◉</a:t>
            </a:r>
          </a:p>
        </p:txBody>
      </p:sp>
      <p:sp>
        <p:nvSpPr>
          <p:cNvPr id="5" name="text-72-72">
            <a:extLst xmlns:a="http://schemas.openxmlformats.org/drawingml/2006/main">
              <a:ext uri="{FF2B5EF4-FFF2-40B4-BE49-F238E27FC236}">
                <a16:creationId xmlns:a16="http://schemas.microsoft.com/office/drawing/2014/main" id="{94ADFC0F-ED12-4A0D-A809-F007C58D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iMonitor</a:t>
            </a:r>
          </a:p>
        </p:txBody>
      </p:sp>
      <p:sp>
        <p:nvSpPr>
          <p:cNvPr id="6" name="text-72-190">
            <a:extLst xmlns:a="http://schemas.openxmlformats.org/drawingml/2006/main">
              <a:ext uri="{FF2B5EF4-FFF2-40B4-BE49-F238E27FC236}">
                <a16:creationId xmlns:a16="http://schemas.microsoft.com/office/drawing/2014/main" id="{AD0624A7-B3B0-41C8-9A37-6BD79A62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A modern IBM i support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workspace for action,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clarity, and confidence.</a:t>
            </a:r>
          </a:p>
        </p:txBody>
      </p:sp>
      <p:sp>
        <p:nvSpPr>
          <p:cNvPr id="7" name="text-76-420">
            <a:extLst xmlns:a="http://schemas.openxmlformats.org/drawingml/2006/main">
              <a:ext uri="{FF2B5EF4-FFF2-40B4-BE49-F238E27FC236}">
                <a16:creationId xmlns:a16="http://schemas.microsoft.com/office/drawing/2014/main" id="{47D288B0-3AE7-4CA4-9787-E28D8715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619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C9DED9"/>
                </a:solidFill>
              </a:defRPr>
            </a:pPr>
            <a:r>
              <a:rPr sz="1650">
                <a:solidFill>
                  <a:srgbClr val="C9DED9"/>
                </a:solidFill>
              </a:rPr>
              <a:t>Live monitoring, operator workflows, incident visibility, and practical AI analysis in one desktop app.</a:t>
            </a:r>
          </a:p>
        </p:txBody>
      </p:sp>
      <p:sp>
        <p:nvSpPr>
          <p:cNvPr id="8" name="text-76-610">
            <a:extLst xmlns:a="http://schemas.openxmlformats.org/drawingml/2006/main">
              <a:ext uri="{FF2B5EF4-FFF2-40B4-BE49-F238E27FC236}">
                <a16:creationId xmlns:a16="http://schemas.microsoft.com/office/drawing/2014/main" id="{D911D51C-A50C-42FD-A983-753FA600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9B867"/>
                </a:solidFill>
              </a:defRPr>
            </a:pPr>
            <a:r>
              <a:rPr sz="1275" b="1">
                <a:solidFill>
                  <a:srgbClr val="E9B867"/>
                </a:solidFill>
              </a:rPr>
              <a:t>A passion project by Gajender Tyagi</a:t>
            </a:r>
          </a:p>
        </p:txBody>
      </p:sp>
    </p:spTree>
    <p:extLst>
      <p:ext uri="{BB962C8B-B14F-4D97-AF65-F5344CB8AC3E}">
        <p14:creationId xmlns:p14="http://schemas.microsoft.com/office/powerpoint/2010/main" val="18916510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72-58">
            <a:extLst xmlns:a="http://schemas.openxmlformats.org/drawingml/2006/main">
              <a:ext uri="{FF2B5EF4-FFF2-40B4-BE49-F238E27FC236}">
                <a16:creationId xmlns:a16="http://schemas.microsoft.com/office/drawing/2014/main" id="{794986F1-3AA4-4F93-8C04-1F038DF6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665D"/>
                </a:solidFill>
              </a:defRPr>
            </a:pPr>
            <a:r>
              <a:rPr sz="1125" b="1">
                <a:solidFill>
                  <a:srgbClr val="0D665D"/>
                </a:solidFill>
              </a:rPr>
              <a:t>WHY I BUILT IT</a:t>
            </a:r>
          </a:p>
        </p:txBody>
      </p:sp>
      <p:sp>
        <p:nvSpPr>
          <p:cNvPr id="2" name="text-72-96">
            <a:extLst xmlns:a="http://schemas.openxmlformats.org/drawingml/2006/main">
              <a:ext uri="{FF2B5EF4-FFF2-40B4-BE49-F238E27FC236}">
                <a16:creationId xmlns:a16="http://schemas.microsoft.com/office/drawing/2014/main" id="{C0F3A046-1D6B-479A-BCDF-B9E56B98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232D"/>
                </a:solidFill>
              </a:defRPr>
            </a:pPr>
            <a:r>
              <a:rPr sz="3150" b="1">
                <a:solidFill>
                  <a:srgbClr val="16232D"/>
                </a:solidFill>
              </a:rPr>
              <a:t>IBM i support needs more than a dashboard</a:t>
            </a:r>
          </a:p>
        </p:txBody>
      </p:sp>
      <p:sp>
        <p:nvSpPr>
          <p:cNvPr id="3" name="text-72-178">
            <a:extLst xmlns:a="http://schemas.openxmlformats.org/drawingml/2006/main">
              <a:ext uri="{FF2B5EF4-FFF2-40B4-BE49-F238E27FC236}">
                <a16:creationId xmlns:a16="http://schemas.microsoft.com/office/drawing/2014/main" id="{91216C7C-C186-49BA-BE3F-F741C9F5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3717C"/>
                </a:solidFill>
              </a:defRPr>
            </a:pPr>
            <a:r>
              <a:rPr sz="1575">
                <a:solidFill>
                  <a:srgbClr val="63717C"/>
                </a:solidFill>
              </a:rPr>
              <a:t>The signals are valuable—but support teams need context, ownership, and a clear next step.</a:t>
            </a:r>
          </a:p>
        </p:txBody>
      </p:sp>
      <p:sp>
        <p:nvSpPr>
          <p:cNvPr id="4" name="shape-72-294">
            <a:extLst xmlns:a="http://schemas.openxmlformats.org/drawingml/2006/main">
              <a:ext uri="{FF2B5EF4-FFF2-40B4-BE49-F238E27FC236}">
                <a16:creationId xmlns:a16="http://schemas.microsoft.com/office/drawing/2014/main" id="{5D4178CC-F585-4922-8518-05EF49DD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32575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5" name="text-96-318">
            <a:extLst xmlns:a="http://schemas.openxmlformats.org/drawingml/2006/main">
              <a:ext uri="{FF2B5EF4-FFF2-40B4-BE49-F238E27FC236}">
                <a16:creationId xmlns:a16="http://schemas.microsoft.com/office/drawing/2014/main" id="{90C270CE-1B58-4C1F-942B-610FC14A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07A66"/>
                </a:solidFill>
              </a:defRPr>
            </a:pPr>
            <a:r>
              <a:rPr sz="1275" b="1">
                <a:solidFill>
                  <a:srgbClr val="E07A66"/>
                </a:solidFill>
              </a:rPr>
              <a:t>01</a:t>
            </a:r>
          </a:p>
        </p:txBody>
      </p:sp>
      <p:sp>
        <p:nvSpPr>
          <p:cNvPr id="6" name="text-96-368">
            <a:extLst xmlns:a="http://schemas.openxmlformats.org/drawingml/2006/main">
              <a:ext uri="{FF2B5EF4-FFF2-40B4-BE49-F238E27FC236}">
                <a16:creationId xmlns:a16="http://schemas.microsoft.com/office/drawing/2014/main" id="{87BF22C4-A0D2-4EBC-8598-D586A41A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32D"/>
                </a:solidFill>
              </a:defRPr>
            </a:pPr>
            <a:r>
              <a:rPr sz="1725" b="1">
                <a:solidFill>
                  <a:srgbClr val="16232D"/>
                </a:solidFill>
              </a:rPr>
              <a:t>Fragmented signals</a:t>
            </a:r>
          </a:p>
        </p:txBody>
      </p:sp>
      <p:sp>
        <p:nvSpPr>
          <p:cNvPr id="7" name="text-96-422">
            <a:extLst xmlns:a="http://schemas.openxmlformats.org/drawingml/2006/main">
              <a:ext uri="{FF2B5EF4-FFF2-40B4-BE49-F238E27FC236}">
                <a16:creationId xmlns:a16="http://schemas.microsoft.com/office/drawing/2014/main" id="{90FA790C-79B7-4577-BE54-0878775A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2743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3717C"/>
                </a:solidFill>
              </a:defRPr>
            </a:pPr>
            <a:r>
              <a:rPr sz="1275">
                <a:solidFill>
                  <a:srgbClr val="63717C"/>
                </a:solidFill>
              </a:rPr>
              <a:t>Jobs, waits, SQL activity, messages, and logs are often reviewed in separate places.</a:t>
            </a:r>
          </a:p>
        </p:txBody>
      </p:sp>
      <p:sp>
        <p:nvSpPr>
          <p:cNvPr id="8" name="shape-458-294">
            <a:extLst xmlns:a="http://schemas.openxmlformats.org/drawingml/2006/main">
              <a:ext uri="{FF2B5EF4-FFF2-40B4-BE49-F238E27FC236}">
                <a16:creationId xmlns:a16="http://schemas.microsoft.com/office/drawing/2014/main" id="{56BE30AB-75FA-43EC-B2A0-CCACB249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00350"/>
            <a:ext cx="32575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DDEFE9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9" name="text-482-318">
            <a:extLst xmlns:a="http://schemas.openxmlformats.org/drawingml/2006/main">
              <a:ext uri="{FF2B5EF4-FFF2-40B4-BE49-F238E27FC236}">
                <a16:creationId xmlns:a16="http://schemas.microsoft.com/office/drawing/2014/main" id="{8D5A70FA-5DAC-4D78-9351-0D0702BD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289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07A66"/>
                </a:solidFill>
              </a:defRPr>
            </a:pPr>
            <a:r>
              <a:rPr sz="1275" b="1">
                <a:solidFill>
                  <a:srgbClr val="E07A66"/>
                </a:solidFill>
              </a:rPr>
              <a:t>02</a:t>
            </a:r>
          </a:p>
        </p:txBody>
      </p:sp>
      <p:sp>
        <p:nvSpPr>
          <p:cNvPr id="10" name="text-482-368">
            <a:extLst xmlns:a="http://schemas.openxmlformats.org/drawingml/2006/main">
              <a:ext uri="{FF2B5EF4-FFF2-40B4-BE49-F238E27FC236}">
                <a16:creationId xmlns:a16="http://schemas.microsoft.com/office/drawing/2014/main" id="{F98731E0-8C43-48C8-B395-F570D653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0520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32D"/>
                </a:solidFill>
              </a:defRPr>
            </a:pPr>
            <a:r>
              <a:rPr sz="1725" b="1">
                <a:solidFill>
                  <a:srgbClr val="16232D"/>
                </a:solidFill>
              </a:rPr>
              <a:t>Incidents move quickly</a:t>
            </a:r>
          </a:p>
        </p:txBody>
      </p:sp>
      <p:sp>
        <p:nvSpPr>
          <p:cNvPr id="11" name="text-482-422">
            <a:extLst xmlns:a="http://schemas.openxmlformats.org/drawingml/2006/main">
              <a:ext uri="{FF2B5EF4-FFF2-40B4-BE49-F238E27FC236}">
                <a16:creationId xmlns:a16="http://schemas.microsoft.com/office/drawing/2014/main" id="{B0D457BB-9FBA-4A73-B990-C7F800BB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19550"/>
            <a:ext cx="2743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3717C"/>
                </a:solidFill>
              </a:defRPr>
            </a:pPr>
            <a:r>
              <a:rPr sz="1275">
                <a:solidFill>
                  <a:srgbClr val="63717C"/>
                </a:solidFill>
              </a:rPr>
              <a:t>A new alert can distract from the incident someone is already investigating.</a:t>
            </a:r>
          </a:p>
        </p:txBody>
      </p:sp>
      <p:sp>
        <p:nvSpPr>
          <p:cNvPr id="12" name="shape-844-294">
            <a:extLst xmlns:a="http://schemas.openxmlformats.org/drawingml/2006/main">
              <a:ext uri="{FF2B5EF4-FFF2-40B4-BE49-F238E27FC236}">
                <a16:creationId xmlns:a16="http://schemas.microsoft.com/office/drawing/2014/main" id="{716C812A-CE73-49B8-A3F1-FA4552F6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00350"/>
            <a:ext cx="32575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3" name="text-868-318">
            <a:extLst xmlns:a="http://schemas.openxmlformats.org/drawingml/2006/main">
              <a:ext uri="{FF2B5EF4-FFF2-40B4-BE49-F238E27FC236}">
                <a16:creationId xmlns:a16="http://schemas.microsoft.com/office/drawing/2014/main" id="{82DDC090-BB43-492B-B003-4477F717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289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07A66"/>
                </a:solidFill>
              </a:defRPr>
            </a:pPr>
            <a:r>
              <a:rPr sz="1275" b="1">
                <a:solidFill>
                  <a:srgbClr val="E07A66"/>
                </a:solidFill>
              </a:rPr>
              <a:t>03</a:t>
            </a:r>
          </a:p>
        </p:txBody>
      </p:sp>
      <p:sp>
        <p:nvSpPr>
          <p:cNvPr id="14" name="text-868-368">
            <a:extLst xmlns:a="http://schemas.openxmlformats.org/drawingml/2006/main">
              <a:ext uri="{FF2B5EF4-FFF2-40B4-BE49-F238E27FC236}">
                <a16:creationId xmlns:a16="http://schemas.microsoft.com/office/drawing/2014/main" id="{5A94A1A5-6457-4143-B902-3FE5B8E0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0520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32D"/>
                </a:solidFill>
              </a:defRPr>
            </a:pPr>
            <a:r>
              <a:rPr sz="1725" b="1">
                <a:solidFill>
                  <a:srgbClr val="16232D"/>
                </a:solidFill>
              </a:rPr>
              <a:t>Handoffs lose context</a:t>
            </a:r>
          </a:p>
        </p:txBody>
      </p:sp>
      <p:sp>
        <p:nvSpPr>
          <p:cNvPr id="15" name="text-868-422">
            <a:extLst xmlns:a="http://schemas.openxmlformats.org/drawingml/2006/main">
              <a:ext uri="{FF2B5EF4-FFF2-40B4-BE49-F238E27FC236}">
                <a16:creationId xmlns:a16="http://schemas.microsoft.com/office/drawing/2014/main" id="{6EE06FC0-E258-42C9-9000-31CF535A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19550"/>
            <a:ext cx="2743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3717C"/>
                </a:solidFill>
              </a:defRPr>
            </a:pPr>
            <a:r>
              <a:rPr sz="1275">
                <a:solidFill>
                  <a:srgbClr val="63717C"/>
                </a:solidFill>
              </a:rPr>
              <a:t>Notes, actions, and evidence need to stay attached to the incident.</a:t>
            </a:r>
          </a:p>
        </p:txBody>
      </p:sp>
      <p:sp>
        <p:nvSpPr>
          <p:cNvPr id="16" name="text-72-676">
            <a:extLst xmlns:a="http://schemas.openxmlformats.org/drawingml/2006/main">
              <a:ext uri="{FF2B5EF4-FFF2-40B4-BE49-F238E27FC236}">
                <a16:creationId xmlns:a16="http://schemas.microsoft.com/office/drawing/2014/main" id="{929C0791-D175-459F-98DB-D84410CB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3717C"/>
                </a:solidFill>
              </a:defRPr>
            </a:pPr>
            <a:r>
              <a:rPr sz="825">
                <a:solidFill>
                  <a:srgbClr val="63717C"/>
                </a:solidFill>
              </a:rPr>
              <a:t>iMonitor  •  IBM i support, made visible</a:t>
            </a:r>
          </a:p>
        </p:txBody>
      </p:sp>
      <p:sp>
        <p:nvSpPr>
          <p:cNvPr id="17" name="text-1170-676">
            <a:extLst xmlns:a="http://schemas.openxmlformats.org/drawingml/2006/main">
              <a:ext uri="{FF2B5EF4-FFF2-40B4-BE49-F238E27FC236}">
                <a16:creationId xmlns:a16="http://schemas.microsoft.com/office/drawing/2014/main" id="{EB746392-21AC-421A-985A-17BD7F20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D665D"/>
                </a:solidFill>
              </a:defRPr>
            </a:pPr>
            <a:r>
              <a:rPr sz="825" b="1">
                <a:solidFill>
                  <a:srgbClr val="0D665D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424309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ext-72-58">
            <a:extLst xmlns:a="http://schemas.openxmlformats.org/drawingml/2006/main">
              <a:ext uri="{FF2B5EF4-FFF2-40B4-BE49-F238E27FC236}">
                <a16:creationId xmlns:a16="http://schemas.microsoft.com/office/drawing/2014/main" id="{B2A9FAA3-EF4A-4857-AECD-756AEAC5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665D"/>
                </a:solidFill>
              </a:defRPr>
            </a:pPr>
            <a:r>
              <a:rPr sz="1125" b="1">
                <a:solidFill>
                  <a:srgbClr val="0D665D"/>
                </a:solidFill>
              </a:rPr>
              <a:t>THE PRODUCT</a:t>
            </a:r>
          </a:p>
        </p:txBody>
      </p:sp>
      <p:sp>
        <p:nvSpPr>
          <p:cNvPr id="2" name="text-72-96">
            <a:extLst xmlns:a="http://schemas.openxmlformats.org/drawingml/2006/main">
              <a:ext uri="{FF2B5EF4-FFF2-40B4-BE49-F238E27FC236}">
                <a16:creationId xmlns:a16="http://schemas.microsoft.com/office/drawing/2014/main" id="{21071D3B-1599-4491-8278-772E829F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232D"/>
                </a:solidFill>
              </a:defRPr>
            </a:pPr>
            <a:r>
              <a:rPr sz="3150" b="1">
                <a:solidFill>
                  <a:srgbClr val="16232D"/>
                </a:solidFill>
              </a:rPr>
              <a:t>One surface from connection to resolution</a:t>
            </a:r>
          </a:p>
        </p:txBody>
      </p:sp>
      <p:sp>
        <p:nvSpPr>
          <p:cNvPr id="3" name="text-72-178">
            <a:extLst xmlns:a="http://schemas.openxmlformats.org/drawingml/2006/main">
              <a:ext uri="{FF2B5EF4-FFF2-40B4-BE49-F238E27FC236}">
                <a16:creationId xmlns:a16="http://schemas.microsoft.com/office/drawing/2014/main" id="{05C2046E-D720-4EBE-8C5C-F7CE6C19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3717C"/>
                </a:solidFill>
              </a:defRPr>
            </a:pPr>
            <a:r>
              <a:rPr sz="1575">
                <a:solidFill>
                  <a:srgbClr val="63717C"/>
                </a:solidFill>
              </a:rPr>
              <a:t>iMonitor brings the operational loop together without hiding the evidence behind it.</a:t>
            </a:r>
          </a:p>
        </p:txBody>
      </p:sp>
      <p:sp>
        <p:nvSpPr>
          <p:cNvPr id="4" name="shape-72-300">
            <a:extLst xmlns:a="http://schemas.openxmlformats.org/drawingml/2006/main">
              <a:ext uri="{FF2B5EF4-FFF2-40B4-BE49-F238E27FC236}">
                <a16:creationId xmlns:a16="http://schemas.microsoft.com/office/drawing/2014/main" id="{516E2D24-8A05-4AC4-BC90-8D513AF1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95262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53C52"/>
          </a:solidFill>
          <a:ln xmlns:a="http://schemas.openxmlformats.org/drawingml/2006/main" w="9525">
            <a:solidFill>
              <a:srgbClr val="153C52"/>
            </a:solidFill>
            <a:prstDash val="solid"/>
          </a:ln>
        </p:spPr>
      </p:sp>
      <p:sp>
        <p:nvSpPr>
          <p:cNvPr id="5" name="text-92-320">
            <a:extLst xmlns:a="http://schemas.openxmlformats.org/drawingml/2006/main">
              <a:ext uri="{FF2B5EF4-FFF2-40B4-BE49-F238E27FC236}">
                <a16:creationId xmlns:a16="http://schemas.microsoft.com/office/drawing/2014/main" id="{851A9A80-49CC-4B27-ABBA-DC4595F6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8EEE9"/>
                </a:solidFill>
              </a:defRPr>
            </a:pPr>
            <a:r>
              <a:rPr sz="1050" b="1">
                <a:solidFill>
                  <a:srgbClr val="D8EEE9"/>
                </a:solidFill>
              </a:rPr>
              <a:t>01</a:t>
            </a:r>
          </a:p>
        </p:txBody>
      </p:sp>
      <p:sp>
        <p:nvSpPr>
          <p:cNvPr id="6" name="text-92-358">
            <a:extLst xmlns:a="http://schemas.openxmlformats.org/drawingml/2006/main">
              <a:ext uri="{FF2B5EF4-FFF2-40B4-BE49-F238E27FC236}">
                <a16:creationId xmlns:a16="http://schemas.microsoft.com/office/drawing/2014/main" id="{C8E09640-5E1C-4BEC-B734-E2E545F0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1562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iMonitor Connect</a:t>
            </a:r>
          </a:p>
        </p:txBody>
      </p:sp>
      <p:sp>
        <p:nvSpPr>
          <p:cNvPr id="7" name="text-92-430">
            <a:extLst xmlns:a="http://schemas.openxmlformats.org/drawingml/2006/main">
              <a:ext uri="{FF2B5EF4-FFF2-40B4-BE49-F238E27FC236}">
                <a16:creationId xmlns:a16="http://schemas.microsoft.com/office/drawing/2014/main" id="{188B071E-06CA-4A9F-88BC-E869E806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E1F0ED"/>
                </a:solidFill>
              </a:defRPr>
            </a:pPr>
            <a:r>
              <a:rPr sz="975">
                <a:solidFill>
                  <a:srgbClr val="E1F0ED"/>
                </a:solidFill>
              </a:rPr>
              <a:t>Save profiles, connect to IBM i, and start monitoring.</a:t>
            </a:r>
          </a:p>
        </p:txBody>
      </p:sp>
      <p:sp>
        <p:nvSpPr>
          <p:cNvPr id="8" name="text-282-368">
            <a:extLst xmlns:a="http://schemas.openxmlformats.org/drawingml/2006/main">
              <a:ext uri="{FF2B5EF4-FFF2-40B4-BE49-F238E27FC236}">
                <a16:creationId xmlns:a16="http://schemas.microsoft.com/office/drawing/2014/main" id="{F9E80A56-D697-48FD-BC5B-79A3B56C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5052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3717C"/>
                </a:solidFill>
              </a:defRPr>
            </a:pPr>
            <a:r>
              <a:rPr sz="1800" b="1">
                <a:solidFill>
                  <a:srgbClr val="63717C"/>
                </a:solidFill>
              </a:rPr>
              <a:t>→</a:t>
            </a:r>
          </a:p>
        </p:txBody>
      </p:sp>
      <p:sp>
        <p:nvSpPr>
          <p:cNvPr id="9" name="shape-308-300">
            <a:extLst xmlns:a="http://schemas.openxmlformats.org/drawingml/2006/main">
              <a:ext uri="{FF2B5EF4-FFF2-40B4-BE49-F238E27FC236}">
                <a16:creationId xmlns:a16="http://schemas.microsoft.com/office/drawing/2014/main" id="{4F5914CE-74FD-4F88-8AA0-4A6D199F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57500"/>
            <a:ext cx="195262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D665D"/>
          </a:solidFill>
          <a:ln xmlns:a="http://schemas.openxmlformats.org/drawingml/2006/main" w="9525">
            <a:solidFill>
              <a:srgbClr val="0D665D"/>
            </a:solidFill>
            <a:prstDash val="solid"/>
          </a:ln>
        </p:spPr>
      </p:sp>
      <p:sp>
        <p:nvSpPr>
          <p:cNvPr id="10" name="text-328-320">
            <a:extLst xmlns:a="http://schemas.openxmlformats.org/drawingml/2006/main">
              <a:ext uri="{FF2B5EF4-FFF2-40B4-BE49-F238E27FC236}">
                <a16:creationId xmlns:a16="http://schemas.microsoft.com/office/drawing/2014/main" id="{A636C352-0677-4F75-9F97-BB54E466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48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8EEE9"/>
                </a:solidFill>
              </a:defRPr>
            </a:pPr>
            <a:r>
              <a:rPr sz="1050" b="1">
                <a:solidFill>
                  <a:srgbClr val="D8EEE9"/>
                </a:solidFill>
              </a:rPr>
              <a:t>02</a:t>
            </a:r>
          </a:p>
        </p:txBody>
      </p:sp>
      <p:sp>
        <p:nvSpPr>
          <p:cNvPr id="11" name="text-328-358">
            <a:extLst xmlns:a="http://schemas.openxmlformats.org/drawingml/2006/main">
              <a:ext uri="{FF2B5EF4-FFF2-40B4-BE49-F238E27FC236}">
                <a16:creationId xmlns:a16="http://schemas.microsoft.com/office/drawing/2014/main" id="{7448FC81-087B-47B1-BCC2-B2E0C689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409950"/>
            <a:ext cx="1562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iMonitor ActionBoard</a:t>
            </a:r>
          </a:p>
        </p:txBody>
      </p:sp>
      <p:sp>
        <p:nvSpPr>
          <p:cNvPr id="12" name="text-328-430">
            <a:extLst xmlns:a="http://schemas.openxmlformats.org/drawingml/2006/main">
              <a:ext uri="{FF2B5EF4-FFF2-40B4-BE49-F238E27FC236}">
                <a16:creationId xmlns:a16="http://schemas.microsoft.com/office/drawing/2014/main" id="{7FAC89D5-1A8A-44E4-A720-2AC5EB92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095750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E1F0ED"/>
                </a:solidFill>
              </a:defRPr>
            </a:pPr>
            <a:r>
              <a:rPr sz="975">
                <a:solidFill>
                  <a:srgbClr val="E1F0ED"/>
                </a:solidFill>
              </a:rPr>
              <a:t>Review jobs, claim incidents, add notes, and track work.</a:t>
            </a:r>
          </a:p>
        </p:txBody>
      </p:sp>
      <p:sp>
        <p:nvSpPr>
          <p:cNvPr id="13" name="text-518-368">
            <a:extLst xmlns:a="http://schemas.openxmlformats.org/drawingml/2006/main">
              <a:ext uri="{FF2B5EF4-FFF2-40B4-BE49-F238E27FC236}">
                <a16:creationId xmlns:a16="http://schemas.microsoft.com/office/drawing/2014/main" id="{8A1AE4E6-AFF7-44F0-8927-4B1C3EE4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5052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3717C"/>
                </a:solidFill>
              </a:defRPr>
            </a:pPr>
            <a:r>
              <a:rPr sz="1800" b="1">
                <a:solidFill>
                  <a:srgbClr val="63717C"/>
                </a:solidFill>
              </a:rPr>
              <a:t>→</a:t>
            </a:r>
          </a:p>
        </p:txBody>
      </p:sp>
      <p:sp>
        <p:nvSpPr>
          <p:cNvPr id="14" name="shape-544-300">
            <a:extLst xmlns:a="http://schemas.openxmlformats.org/drawingml/2006/main">
              <a:ext uri="{FF2B5EF4-FFF2-40B4-BE49-F238E27FC236}">
                <a16:creationId xmlns:a16="http://schemas.microsoft.com/office/drawing/2014/main" id="{AAB7D5A3-38EC-4F45-80A8-B81E9D05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857500"/>
            <a:ext cx="195262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9B867"/>
          </a:solidFill>
          <a:ln xmlns:a="http://schemas.openxmlformats.org/drawingml/2006/main" w="9525">
            <a:solidFill>
              <a:srgbClr val="E9B867"/>
            </a:solidFill>
            <a:prstDash val="solid"/>
          </a:ln>
        </p:spPr>
      </p:sp>
      <p:sp>
        <p:nvSpPr>
          <p:cNvPr id="15" name="text-564-320">
            <a:extLst xmlns:a="http://schemas.openxmlformats.org/drawingml/2006/main">
              <a:ext uri="{FF2B5EF4-FFF2-40B4-BE49-F238E27FC236}">
                <a16:creationId xmlns:a16="http://schemas.microsoft.com/office/drawing/2014/main" id="{6AF48D3B-9355-4CC1-9F19-0E971B13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048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8EEE9"/>
                </a:solidFill>
              </a:defRPr>
            </a:pPr>
            <a:r>
              <a:rPr sz="1050" b="1">
                <a:solidFill>
                  <a:srgbClr val="D8EEE9"/>
                </a:solidFill>
              </a:rPr>
              <a:t>03</a:t>
            </a:r>
          </a:p>
        </p:txBody>
      </p:sp>
      <p:sp>
        <p:nvSpPr>
          <p:cNvPr id="16" name="text-564-358">
            <a:extLst xmlns:a="http://schemas.openxmlformats.org/drawingml/2006/main">
              <a:ext uri="{FF2B5EF4-FFF2-40B4-BE49-F238E27FC236}">
                <a16:creationId xmlns:a16="http://schemas.microsoft.com/office/drawing/2014/main" id="{7655D04E-D126-48EF-8C4E-F5874DB1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409950"/>
            <a:ext cx="1562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iMonitor Logs</a:t>
            </a:r>
          </a:p>
        </p:txBody>
      </p:sp>
      <p:sp>
        <p:nvSpPr>
          <p:cNvPr id="17" name="text-564-430">
            <a:extLst xmlns:a="http://schemas.openxmlformats.org/drawingml/2006/main">
              <a:ext uri="{FF2B5EF4-FFF2-40B4-BE49-F238E27FC236}">
                <a16:creationId xmlns:a16="http://schemas.microsoft.com/office/drawing/2014/main" id="{6B414789-71D8-4612-8157-AED59CA7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095750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E1F0ED"/>
                </a:solidFill>
              </a:defRPr>
            </a:pPr>
            <a:r>
              <a:rPr sz="975">
                <a:solidFill>
                  <a:srgbClr val="E1F0ED"/>
                </a:solidFill>
              </a:rPr>
              <a:t>Keep timestamped SQL and background activity visible.</a:t>
            </a:r>
          </a:p>
        </p:txBody>
      </p:sp>
      <p:sp>
        <p:nvSpPr>
          <p:cNvPr id="18" name="text-754-368">
            <a:extLst xmlns:a="http://schemas.openxmlformats.org/drawingml/2006/main">
              <a:ext uri="{FF2B5EF4-FFF2-40B4-BE49-F238E27FC236}">
                <a16:creationId xmlns:a16="http://schemas.microsoft.com/office/drawing/2014/main" id="{830446FA-4CBF-463E-B7EE-7C342B86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052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3717C"/>
                </a:solidFill>
              </a:defRPr>
            </a:pPr>
            <a:r>
              <a:rPr sz="1800" b="1">
                <a:solidFill>
                  <a:srgbClr val="63717C"/>
                </a:solidFill>
              </a:rPr>
              <a:t>→</a:t>
            </a:r>
          </a:p>
        </p:txBody>
      </p:sp>
      <p:sp>
        <p:nvSpPr>
          <p:cNvPr id="19" name="shape-780-300">
            <a:extLst xmlns:a="http://schemas.openxmlformats.org/drawingml/2006/main">
              <a:ext uri="{FF2B5EF4-FFF2-40B4-BE49-F238E27FC236}">
                <a16:creationId xmlns:a16="http://schemas.microsoft.com/office/drawing/2014/main" id="{5F760BF7-9753-4019-802D-5C2234EE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57500"/>
            <a:ext cx="195262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07A66"/>
          </a:solidFill>
          <a:ln xmlns:a="http://schemas.openxmlformats.org/drawingml/2006/main" w="9525">
            <a:solidFill>
              <a:srgbClr val="E07A66"/>
            </a:solidFill>
            <a:prstDash val="solid"/>
          </a:ln>
        </p:spPr>
      </p:sp>
      <p:sp>
        <p:nvSpPr>
          <p:cNvPr id="20" name="text-800-320">
            <a:extLst xmlns:a="http://schemas.openxmlformats.org/drawingml/2006/main">
              <a:ext uri="{FF2B5EF4-FFF2-40B4-BE49-F238E27FC236}">
                <a16:creationId xmlns:a16="http://schemas.microsoft.com/office/drawing/2014/main" id="{0E6D5F6A-F440-4FD0-B0D1-CA782255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48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8EEE9"/>
                </a:solidFill>
              </a:defRPr>
            </a:pPr>
            <a:r>
              <a:rPr sz="1050" b="1">
                <a:solidFill>
                  <a:srgbClr val="D8EEE9"/>
                </a:solidFill>
              </a:rPr>
              <a:t>04</a:t>
            </a:r>
          </a:p>
        </p:txBody>
      </p:sp>
      <p:sp>
        <p:nvSpPr>
          <p:cNvPr id="21" name="text-800-358">
            <a:extLst xmlns:a="http://schemas.openxmlformats.org/drawingml/2006/main">
              <a:ext uri="{FF2B5EF4-FFF2-40B4-BE49-F238E27FC236}">
                <a16:creationId xmlns:a16="http://schemas.microsoft.com/office/drawing/2014/main" id="{29255485-E2FF-4789-A048-65B70A3A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09950"/>
            <a:ext cx="1562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IBMEye Alerts</a:t>
            </a:r>
          </a:p>
        </p:txBody>
      </p:sp>
      <p:sp>
        <p:nvSpPr>
          <p:cNvPr id="22" name="text-800-430">
            <a:extLst xmlns:a="http://schemas.openxmlformats.org/drawingml/2006/main">
              <a:ext uri="{FF2B5EF4-FFF2-40B4-BE49-F238E27FC236}">
                <a16:creationId xmlns:a16="http://schemas.microsoft.com/office/drawing/2014/main" id="{437B125F-AECB-4CD9-9650-804729E8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95750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E1F0ED"/>
                </a:solidFill>
              </a:defRPr>
            </a:pPr>
            <a:r>
              <a:rPr sz="975">
                <a:solidFill>
                  <a:srgbClr val="E1F0ED"/>
                </a:solidFill>
              </a:rPr>
              <a:t>Detect operator-impacting conditions and keep them visible.</a:t>
            </a:r>
          </a:p>
        </p:txBody>
      </p:sp>
      <p:sp>
        <p:nvSpPr>
          <p:cNvPr id="23" name="text-990-368">
            <a:extLst xmlns:a="http://schemas.openxmlformats.org/drawingml/2006/main">
              <a:ext uri="{FF2B5EF4-FFF2-40B4-BE49-F238E27FC236}">
                <a16:creationId xmlns:a16="http://schemas.microsoft.com/office/drawing/2014/main" id="{6E532DB1-51EA-41D3-BF48-0FC51821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5052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3717C"/>
                </a:solidFill>
              </a:defRPr>
            </a:pPr>
            <a:r>
              <a:rPr sz="1800" b="1">
                <a:solidFill>
                  <a:srgbClr val="63717C"/>
                </a:solidFill>
              </a:rPr>
              <a:t>→</a:t>
            </a:r>
          </a:p>
        </p:txBody>
      </p:sp>
      <p:sp>
        <p:nvSpPr>
          <p:cNvPr id="24" name="shape-1016-300">
            <a:extLst xmlns:a="http://schemas.openxmlformats.org/drawingml/2006/main">
              <a:ext uri="{FF2B5EF4-FFF2-40B4-BE49-F238E27FC236}">
                <a16:creationId xmlns:a16="http://schemas.microsoft.com/office/drawing/2014/main" id="{3E7C7FC7-EF34-470F-A734-9A7E343A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857500"/>
            <a:ext cx="195262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6C5CE7"/>
          </a:solidFill>
          <a:ln xmlns:a="http://schemas.openxmlformats.org/drawingml/2006/main" w="9525">
            <a:solidFill>
              <a:srgbClr val="6C5CE7"/>
            </a:solidFill>
            <a:prstDash val="solid"/>
          </a:ln>
        </p:spPr>
      </p:sp>
      <p:sp>
        <p:nvSpPr>
          <p:cNvPr id="25" name="text-1036-320">
            <a:extLst xmlns:a="http://schemas.openxmlformats.org/drawingml/2006/main">
              <a:ext uri="{FF2B5EF4-FFF2-40B4-BE49-F238E27FC236}">
                <a16:creationId xmlns:a16="http://schemas.microsoft.com/office/drawing/2014/main" id="{271011C8-A47B-4A2D-9C4B-61D77E19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048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8EEE9"/>
                </a:solidFill>
              </a:defRPr>
            </a:pPr>
            <a:r>
              <a:rPr sz="1050" b="1">
                <a:solidFill>
                  <a:srgbClr val="D8EEE9"/>
                </a:solidFill>
              </a:rPr>
              <a:t>05</a:t>
            </a:r>
          </a:p>
        </p:txBody>
      </p:sp>
      <p:sp>
        <p:nvSpPr>
          <p:cNvPr id="26" name="text-1036-358">
            <a:extLst xmlns:a="http://schemas.openxmlformats.org/drawingml/2006/main">
              <a:ext uri="{FF2B5EF4-FFF2-40B4-BE49-F238E27FC236}">
                <a16:creationId xmlns:a16="http://schemas.microsoft.com/office/drawing/2014/main" id="{C1718FAC-B48A-4BD4-9432-F8E9540A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409950"/>
            <a:ext cx="1562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IBMEye AI</a:t>
            </a:r>
          </a:p>
        </p:txBody>
      </p:sp>
      <p:sp>
        <p:nvSpPr>
          <p:cNvPr id="27" name="text-1036-430">
            <a:extLst xmlns:a="http://schemas.openxmlformats.org/drawingml/2006/main">
              <a:ext uri="{FF2B5EF4-FFF2-40B4-BE49-F238E27FC236}">
                <a16:creationId xmlns:a16="http://schemas.microsoft.com/office/drawing/2014/main" id="{9096094A-BFA0-40C6-92EB-DA97B307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095750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E1F0ED"/>
                </a:solidFill>
              </a:defRPr>
            </a:pPr>
            <a:r>
              <a:rPr sz="975">
                <a:solidFill>
                  <a:srgbClr val="E1F0ED"/>
                </a:solidFill>
              </a:rPr>
              <a:t>Explain evidence and recommend a safe next step.</a:t>
            </a:r>
          </a:p>
        </p:txBody>
      </p:sp>
      <p:sp>
        <p:nvSpPr>
          <p:cNvPr id="28" name="text-72-676">
            <a:extLst xmlns:a="http://schemas.openxmlformats.org/drawingml/2006/main">
              <a:ext uri="{FF2B5EF4-FFF2-40B4-BE49-F238E27FC236}">
                <a16:creationId xmlns:a16="http://schemas.microsoft.com/office/drawing/2014/main" id="{33FCE3F8-5F7A-4FF6-B0D7-A64B611C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3717C"/>
                </a:solidFill>
              </a:defRPr>
            </a:pPr>
            <a:r>
              <a:rPr sz="825">
                <a:solidFill>
                  <a:srgbClr val="63717C"/>
                </a:solidFill>
              </a:rPr>
              <a:t>iMonitor  •  IBM i support, made visible</a:t>
            </a:r>
          </a:p>
        </p:txBody>
      </p:sp>
      <p:sp>
        <p:nvSpPr>
          <p:cNvPr id="29" name="text-1170-676">
            <a:extLst xmlns:a="http://schemas.openxmlformats.org/drawingml/2006/main">
              <a:ext uri="{FF2B5EF4-FFF2-40B4-BE49-F238E27FC236}">
                <a16:creationId xmlns:a16="http://schemas.microsoft.com/office/drawing/2014/main" id="{FF3E4594-28DE-4ACB-8615-DE2D6728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D665D"/>
                </a:solidFill>
              </a:defRPr>
            </a:pPr>
            <a:r>
              <a:rPr sz="825" b="1">
                <a:solidFill>
                  <a:srgbClr val="0D665D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200222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ext-72-58">
            <a:extLst xmlns:a="http://schemas.openxmlformats.org/drawingml/2006/main">
              <a:ext uri="{FF2B5EF4-FFF2-40B4-BE49-F238E27FC236}">
                <a16:creationId xmlns:a16="http://schemas.microsoft.com/office/drawing/2014/main" id="{FA2631AF-EFAE-4303-8889-70F3298E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665D"/>
                </a:solidFill>
              </a:defRPr>
            </a:pPr>
            <a:r>
              <a:rPr sz="1125" b="1">
                <a:solidFill>
                  <a:srgbClr val="0D665D"/>
                </a:solidFill>
              </a:rPr>
              <a:t>OPERATOR WORKFLOW</a:t>
            </a:r>
          </a:p>
        </p:txBody>
      </p:sp>
      <p:sp>
        <p:nvSpPr>
          <p:cNvPr id="2" name="text-72-96">
            <a:extLst xmlns:a="http://schemas.openxmlformats.org/drawingml/2006/main">
              <a:ext uri="{FF2B5EF4-FFF2-40B4-BE49-F238E27FC236}">
                <a16:creationId xmlns:a16="http://schemas.microsoft.com/office/drawing/2014/main" id="{302746DA-2CD4-43A8-BD6D-222FF8E7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232D"/>
                </a:solidFill>
              </a:defRPr>
            </a:pPr>
            <a:r>
              <a:rPr sz="3150" b="1">
                <a:solidFill>
                  <a:srgbClr val="16232D"/>
                </a:solidFill>
              </a:rPr>
              <a:t>See the job. Understand the wait. Track the work.</a:t>
            </a:r>
          </a:p>
        </p:txBody>
      </p:sp>
      <p:sp>
        <p:nvSpPr>
          <p:cNvPr id="3" name="text-72-178">
            <a:extLst xmlns:a="http://schemas.openxmlformats.org/drawingml/2006/main">
              <a:ext uri="{FF2B5EF4-FFF2-40B4-BE49-F238E27FC236}">
                <a16:creationId xmlns:a16="http://schemas.microsoft.com/office/drawing/2014/main" id="{C3518DD2-6373-47AC-994F-5656C255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3717C"/>
                </a:solidFill>
              </a:defRPr>
            </a:pPr>
            <a:r>
              <a:rPr sz="1575">
                <a:solidFill>
                  <a:srgbClr val="63717C"/>
                </a:solidFill>
              </a:rPr>
              <a:t>The ActionBoard is designed for a support person who needs useful detail without a heavy interface.</a:t>
            </a:r>
          </a:p>
        </p:txBody>
      </p:sp>
      <p:sp>
        <p:nvSpPr>
          <p:cNvPr id="4" name="shape-72-282">
            <a:extLst xmlns:a="http://schemas.openxmlformats.org/drawingml/2006/main">
              <a:ext uri="{FF2B5EF4-FFF2-40B4-BE49-F238E27FC236}">
                <a16:creationId xmlns:a16="http://schemas.microsoft.com/office/drawing/2014/main" id="{83FCFA48-D2A4-4178-BB99-325C34FE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334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5" name="text-102-310">
            <a:extLst xmlns:a="http://schemas.openxmlformats.org/drawingml/2006/main">
              <a:ext uri="{FF2B5EF4-FFF2-40B4-BE49-F238E27FC236}">
                <a16:creationId xmlns:a16="http://schemas.microsoft.com/office/drawing/2014/main" id="{B7656849-371D-434A-A57E-6C07DD27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527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665D"/>
                </a:solidFill>
              </a:defRPr>
            </a:pPr>
            <a:r>
              <a:rPr sz="1050" b="1">
                <a:solidFill>
                  <a:srgbClr val="0D665D"/>
                </a:solidFill>
              </a:rPr>
              <a:t>ACTIVE JOBS</a:t>
            </a:r>
          </a:p>
        </p:txBody>
      </p:sp>
      <p:sp>
        <p:nvSpPr>
          <p:cNvPr id="6" name="text-102-342">
            <a:extLst xmlns:a="http://schemas.openxmlformats.org/drawingml/2006/main">
              <a:ext uri="{FF2B5EF4-FFF2-40B4-BE49-F238E27FC236}">
                <a16:creationId xmlns:a16="http://schemas.microsoft.com/office/drawing/2014/main" id="{DCEDD7BF-2BEC-4588-BD10-65AC1EE5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575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232D"/>
                </a:solidFill>
              </a:defRPr>
            </a:pPr>
            <a:r>
              <a:rPr sz="2100" b="1">
                <a:solidFill>
                  <a:srgbClr val="16232D"/>
                </a:solidFill>
              </a:rPr>
              <a:t>System activity feed</a:t>
            </a:r>
          </a:p>
        </p:txBody>
      </p:sp>
      <p:sp>
        <p:nvSpPr>
          <p:cNvPr id="7" name="shape-102-400">
            <a:extLst xmlns:a="http://schemas.openxmlformats.org/drawingml/2006/main">
              <a:ext uri="{FF2B5EF4-FFF2-40B4-BE49-F238E27FC236}">
                <a16:creationId xmlns:a16="http://schemas.microsoft.com/office/drawing/2014/main" id="{0415D045-D420-4EF1-B079-061868F2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10000"/>
            <a:ext cx="1238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DEFE9"/>
          </a:solidFill>
          <a:ln xmlns:a="http://schemas.openxmlformats.org/drawingml/2006/main" w="9525">
            <a:solidFill>
              <a:srgbClr val="DDEFE9"/>
            </a:solidFill>
            <a:prstDash val="solid"/>
          </a:ln>
        </p:spPr>
      </p:sp>
      <p:sp>
        <p:nvSpPr>
          <p:cNvPr id="8" name="text-116-402">
            <a:extLst xmlns:a="http://schemas.openxmlformats.org/drawingml/2006/main">
              <a:ext uri="{FF2B5EF4-FFF2-40B4-BE49-F238E27FC236}">
                <a16:creationId xmlns:a16="http://schemas.microsoft.com/office/drawing/2014/main" id="{CC768BA6-4006-4B06-B6CD-EC6D6FE5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29050"/>
            <a:ext cx="971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665D"/>
                </a:solidFill>
              </a:defRPr>
            </a:pPr>
            <a:r>
              <a:rPr sz="1125" b="1">
                <a:solidFill>
                  <a:srgbClr val="0D665D"/>
                </a:solidFill>
              </a:rPr>
              <a:t>5 sec refresh</a:t>
            </a:r>
          </a:p>
        </p:txBody>
      </p:sp>
      <p:sp>
        <p:nvSpPr>
          <p:cNvPr id="9" name="shape-246-400">
            <a:extLst xmlns:a="http://schemas.openxmlformats.org/drawingml/2006/main">
              <a:ext uri="{FF2B5EF4-FFF2-40B4-BE49-F238E27FC236}">
                <a16:creationId xmlns:a16="http://schemas.microsoft.com/office/drawing/2014/main" id="{7875082C-D716-4C8E-AAAB-7006C9C5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810000"/>
            <a:ext cx="9334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DEFE9"/>
          </a:solidFill>
          <a:ln xmlns:a="http://schemas.openxmlformats.org/drawingml/2006/main" w="9525">
            <a:solidFill>
              <a:srgbClr val="DDEFE9"/>
            </a:solidFill>
            <a:prstDash val="solid"/>
          </a:ln>
        </p:spPr>
      </p:sp>
      <p:sp>
        <p:nvSpPr>
          <p:cNvPr id="10" name="text-260-402">
            <a:extLst xmlns:a="http://schemas.openxmlformats.org/drawingml/2006/main">
              <a:ext uri="{FF2B5EF4-FFF2-40B4-BE49-F238E27FC236}">
                <a16:creationId xmlns:a16="http://schemas.microsoft.com/office/drawing/2014/main" id="{3D5A7D62-7D59-4963-A091-A6B1EFAA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290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665D"/>
                </a:solidFill>
              </a:defRPr>
            </a:pPr>
            <a:r>
              <a:rPr sz="1125" b="1">
                <a:solidFill>
                  <a:srgbClr val="0D665D"/>
                </a:solidFill>
              </a:rPr>
              <a:t>QINTER</a:t>
            </a:r>
          </a:p>
        </p:txBody>
      </p:sp>
      <p:sp>
        <p:nvSpPr>
          <p:cNvPr id="11" name="shape-358-400">
            <a:extLst xmlns:a="http://schemas.openxmlformats.org/drawingml/2006/main">
              <a:ext uri="{FF2B5EF4-FFF2-40B4-BE49-F238E27FC236}">
                <a16:creationId xmlns:a16="http://schemas.microsoft.com/office/drawing/2014/main" id="{107E7EC8-82BB-452B-8B1B-2788BE8E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810000"/>
            <a:ext cx="1238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3E8D5"/>
          </a:solidFill>
          <a:ln xmlns:a="http://schemas.openxmlformats.org/drawingml/2006/main" w="9525">
            <a:solidFill>
              <a:srgbClr val="F3E8D5"/>
            </a:solidFill>
            <a:prstDash val="solid"/>
          </a:ln>
        </p:spPr>
      </p:sp>
      <p:sp>
        <p:nvSpPr>
          <p:cNvPr id="12" name="text-372-402">
            <a:extLst xmlns:a="http://schemas.openxmlformats.org/drawingml/2006/main">
              <a:ext uri="{FF2B5EF4-FFF2-40B4-BE49-F238E27FC236}">
                <a16:creationId xmlns:a16="http://schemas.microsoft.com/office/drawing/2014/main" id="{E054BE8C-7946-4950-AD53-ACF6FC7F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29050"/>
            <a:ext cx="971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C5A22"/>
                </a:solidFill>
              </a:defRPr>
            </a:pPr>
            <a:r>
              <a:rPr sz="1125" b="1">
                <a:solidFill>
                  <a:srgbClr val="8C5A22"/>
                </a:solidFill>
              </a:rPr>
              <a:t>Search jobs</a:t>
            </a:r>
          </a:p>
        </p:txBody>
      </p:sp>
      <p:sp>
        <p:nvSpPr>
          <p:cNvPr id="13" name="shape-102-458">
            <a:extLst xmlns:a="http://schemas.openxmlformats.org/drawingml/2006/main">
              <a:ext uri="{FF2B5EF4-FFF2-40B4-BE49-F238E27FC236}">
                <a16:creationId xmlns:a16="http://schemas.microsoft.com/office/drawing/2014/main" id="{4A681788-759C-4C45-8625-3DAC163A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62450"/>
            <a:ext cx="44005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0C2B8"/>
            </a:solidFill>
            <a:prstDash val="solid"/>
          </a:ln>
        </p:spPr>
      </p:sp>
      <p:sp>
        <p:nvSpPr>
          <p:cNvPr id="14" name="text-116-458">
            <a:extLst xmlns:a="http://schemas.openxmlformats.org/drawingml/2006/main">
              <a:ext uri="{FF2B5EF4-FFF2-40B4-BE49-F238E27FC236}">
                <a16:creationId xmlns:a16="http://schemas.microsoft.com/office/drawing/2014/main" id="{6042FD29-5CDF-4039-83F4-C6E8AD73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62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07A66"/>
                </a:solidFill>
              </a:defRPr>
            </a:pPr>
            <a:r>
              <a:rPr sz="975" b="1">
                <a:solidFill>
                  <a:srgbClr val="E07A66"/>
                </a:solidFill>
              </a:rPr>
              <a:t>QINTER / MSGWJOB</a:t>
            </a:r>
          </a:p>
        </p:txBody>
      </p:sp>
      <p:sp>
        <p:nvSpPr>
          <p:cNvPr id="15" name="shape-102-488">
            <a:extLst xmlns:a="http://schemas.openxmlformats.org/drawingml/2006/main">
              <a:ext uri="{FF2B5EF4-FFF2-40B4-BE49-F238E27FC236}">
                <a16:creationId xmlns:a16="http://schemas.microsoft.com/office/drawing/2014/main" id="{82B15135-5EA6-4285-BDA2-1A52290E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48200"/>
            <a:ext cx="44005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9525">
            <a:solidFill>
              <a:srgbClr val="F4F6F4"/>
            </a:solidFill>
            <a:prstDash val="solid"/>
          </a:ln>
        </p:spPr>
      </p:sp>
      <p:sp>
        <p:nvSpPr>
          <p:cNvPr id="16" name="text-116-488">
            <a:extLst xmlns:a="http://schemas.openxmlformats.org/drawingml/2006/main">
              <a:ext uri="{FF2B5EF4-FFF2-40B4-BE49-F238E27FC236}">
                <a16:creationId xmlns:a16="http://schemas.microsoft.com/office/drawing/2014/main" id="{A0243FEB-EDFC-444C-8405-381465CF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48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6232D"/>
                </a:solidFill>
              </a:defRPr>
            </a:pPr>
            <a:r>
              <a:rPr sz="975" b="0">
                <a:solidFill>
                  <a:srgbClr val="16232D"/>
                </a:solidFill>
              </a:rPr>
              <a:t>QBATCH / NIGHTBCH</a:t>
            </a:r>
          </a:p>
        </p:txBody>
      </p:sp>
      <p:sp>
        <p:nvSpPr>
          <p:cNvPr id="17" name="shape-102-518">
            <a:extLst xmlns:a="http://schemas.openxmlformats.org/drawingml/2006/main">
              <a:ext uri="{FF2B5EF4-FFF2-40B4-BE49-F238E27FC236}">
                <a16:creationId xmlns:a16="http://schemas.microsoft.com/office/drawing/2014/main" id="{E11E9F4E-CD02-4698-A6C0-A6772DCC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33950"/>
            <a:ext cx="44005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9525">
            <a:solidFill>
              <a:srgbClr val="F4F6F4"/>
            </a:solidFill>
            <a:prstDash val="solid"/>
          </a:ln>
        </p:spPr>
      </p:sp>
      <p:sp>
        <p:nvSpPr>
          <p:cNvPr id="18" name="text-116-518">
            <a:extLst xmlns:a="http://schemas.openxmlformats.org/drawingml/2006/main">
              <a:ext uri="{FF2B5EF4-FFF2-40B4-BE49-F238E27FC236}">
                <a16:creationId xmlns:a16="http://schemas.microsoft.com/office/drawing/2014/main" id="{097CAF2C-EEFB-496B-AE91-6E80C232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33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6232D"/>
                </a:solidFill>
              </a:defRPr>
            </a:pPr>
            <a:r>
              <a:rPr sz="975" b="0">
                <a:solidFill>
                  <a:srgbClr val="16232D"/>
                </a:solidFill>
              </a:rPr>
              <a:t>QSERVER / QZDASOINIT</a:t>
            </a:r>
          </a:p>
        </p:txBody>
      </p:sp>
      <p:sp>
        <p:nvSpPr>
          <p:cNvPr id="19" name="shape-676-282">
            <a:extLst xmlns:a="http://schemas.openxmlformats.org/drawingml/2006/main">
              <a:ext uri="{FF2B5EF4-FFF2-40B4-BE49-F238E27FC236}">
                <a16:creationId xmlns:a16="http://schemas.microsoft.com/office/drawing/2014/main" id="{27489732-915E-4BE5-885C-504FB904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86050"/>
            <a:ext cx="50673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53C52"/>
          </a:solidFill>
          <a:ln xmlns:a="http://schemas.openxmlformats.org/drawingml/2006/main" w="9525">
            <a:solidFill>
              <a:srgbClr val="153C52"/>
            </a:solidFill>
            <a:prstDash val="solid"/>
          </a:ln>
        </p:spPr>
      </p:sp>
      <p:sp>
        <p:nvSpPr>
          <p:cNvPr id="20" name="text-706-310">
            <a:extLst xmlns:a="http://schemas.openxmlformats.org/drawingml/2006/main">
              <a:ext uri="{FF2B5EF4-FFF2-40B4-BE49-F238E27FC236}">
                <a16:creationId xmlns:a16="http://schemas.microsoft.com/office/drawing/2014/main" id="{D2FE6D1C-C08F-4DC1-B610-4421C6B6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9527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9B867"/>
                </a:solidFill>
              </a:defRPr>
            </a:pPr>
            <a:r>
              <a:rPr sz="1050" b="1">
                <a:solidFill>
                  <a:srgbClr val="E9B867"/>
                </a:solidFill>
              </a:rPr>
              <a:t>ACTIONBOARD</a:t>
            </a:r>
          </a:p>
        </p:txBody>
      </p:sp>
      <p:sp>
        <p:nvSpPr>
          <p:cNvPr id="21" name="text-706-342">
            <a:extLst xmlns:a="http://schemas.openxmlformats.org/drawingml/2006/main">
              <a:ext uri="{FF2B5EF4-FFF2-40B4-BE49-F238E27FC236}">
                <a16:creationId xmlns:a16="http://schemas.microsoft.com/office/drawing/2014/main" id="{6988BC7F-9DE7-4D5F-B094-AF94E5D8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575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A clear chain of custody</a:t>
            </a:r>
          </a:p>
        </p:txBody>
      </p:sp>
      <p:sp>
        <p:nvSpPr>
          <p:cNvPr id="22" name="text-708-402">
            <a:extLst xmlns:a="http://schemas.openxmlformats.org/drawingml/2006/main">
              <a:ext uri="{FF2B5EF4-FFF2-40B4-BE49-F238E27FC236}">
                <a16:creationId xmlns:a16="http://schemas.microsoft.com/office/drawing/2014/main" id="{F18AC150-99F6-4ECA-BE7C-72E86CB79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290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9B867"/>
                </a:solidFill>
              </a:defRPr>
            </a:pPr>
            <a:r>
              <a:rPr sz="1350" b="1">
                <a:solidFill>
                  <a:srgbClr val="E9B867"/>
                </a:solidFill>
              </a:rPr>
              <a:t>✓</a:t>
            </a:r>
          </a:p>
        </p:txBody>
      </p:sp>
      <p:sp>
        <p:nvSpPr>
          <p:cNvPr id="23" name="text-742-402">
            <a:extLst xmlns:a="http://schemas.openxmlformats.org/drawingml/2006/main">
              <a:ext uri="{FF2B5EF4-FFF2-40B4-BE49-F238E27FC236}">
                <a16:creationId xmlns:a16="http://schemas.microsoft.com/office/drawing/2014/main" id="{D087D8A7-8F9C-4AE9-A78C-A5F74E55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8290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6E5E2"/>
                </a:solidFill>
              </a:defRPr>
            </a:pPr>
            <a:r>
              <a:rPr sz="1275">
                <a:solidFill>
                  <a:srgbClr val="D6E5E2"/>
                </a:solidFill>
              </a:rPr>
              <a:t>Acknowledge → owner</a:t>
            </a:r>
          </a:p>
        </p:txBody>
      </p:sp>
      <p:sp>
        <p:nvSpPr>
          <p:cNvPr id="24" name="text-708-436">
            <a:extLst xmlns:a="http://schemas.openxmlformats.org/drawingml/2006/main">
              <a:ext uri="{FF2B5EF4-FFF2-40B4-BE49-F238E27FC236}">
                <a16:creationId xmlns:a16="http://schemas.microsoft.com/office/drawing/2014/main" id="{6CA692C9-01E1-4AD7-98FF-0CF55208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529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9B867"/>
                </a:solidFill>
              </a:defRPr>
            </a:pPr>
            <a:r>
              <a:rPr sz="1350" b="1">
                <a:solidFill>
                  <a:srgbClr val="E9B867"/>
                </a:solidFill>
              </a:rPr>
              <a:t>✓</a:t>
            </a:r>
          </a:p>
        </p:txBody>
      </p:sp>
      <p:sp>
        <p:nvSpPr>
          <p:cNvPr id="25" name="text-742-436">
            <a:extLst xmlns:a="http://schemas.openxmlformats.org/drawingml/2006/main">
              <a:ext uri="{FF2B5EF4-FFF2-40B4-BE49-F238E27FC236}">
                <a16:creationId xmlns:a16="http://schemas.microsoft.com/office/drawing/2014/main" id="{5414B851-1F73-46EC-9BE6-260E3143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529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6E5E2"/>
                </a:solidFill>
              </a:defRPr>
            </a:pPr>
            <a:r>
              <a:rPr sz="1275">
                <a:solidFill>
                  <a:srgbClr val="D6E5E2"/>
                </a:solidFill>
              </a:rPr>
              <a:t>Start work → tracked task</a:t>
            </a:r>
          </a:p>
        </p:txBody>
      </p:sp>
      <p:sp>
        <p:nvSpPr>
          <p:cNvPr id="26" name="text-708-470">
            <a:extLst xmlns:a="http://schemas.openxmlformats.org/drawingml/2006/main">
              <a:ext uri="{FF2B5EF4-FFF2-40B4-BE49-F238E27FC236}">
                <a16:creationId xmlns:a16="http://schemas.microsoft.com/office/drawing/2014/main" id="{05B7AD06-39D1-4E9E-BA5D-1F23B32B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767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9B867"/>
                </a:solidFill>
              </a:defRPr>
            </a:pPr>
            <a:r>
              <a:rPr sz="1350" b="1">
                <a:solidFill>
                  <a:srgbClr val="E9B867"/>
                </a:solidFill>
              </a:rPr>
              <a:t>✓</a:t>
            </a:r>
          </a:p>
        </p:txBody>
      </p:sp>
      <p:sp>
        <p:nvSpPr>
          <p:cNvPr id="27" name="text-742-470">
            <a:extLst xmlns:a="http://schemas.openxmlformats.org/drawingml/2006/main">
              <a:ext uri="{FF2B5EF4-FFF2-40B4-BE49-F238E27FC236}">
                <a16:creationId xmlns:a16="http://schemas.microsoft.com/office/drawing/2014/main" id="{6A8FF9EA-0594-42BA-9A40-A623B09E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767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6E5E2"/>
                </a:solidFill>
              </a:defRPr>
            </a:pPr>
            <a:r>
              <a:rPr sz="1275">
                <a:solidFill>
                  <a:srgbClr val="D6E5E2"/>
                </a:solidFill>
              </a:rPr>
              <a:t>Add note → handoff context</a:t>
            </a:r>
          </a:p>
        </p:txBody>
      </p:sp>
      <p:sp>
        <p:nvSpPr>
          <p:cNvPr id="28" name="text-708-504">
            <a:extLst xmlns:a="http://schemas.openxmlformats.org/drawingml/2006/main">
              <a:ext uri="{FF2B5EF4-FFF2-40B4-BE49-F238E27FC236}">
                <a16:creationId xmlns:a16="http://schemas.microsoft.com/office/drawing/2014/main" id="{694C43BB-3B85-4235-8A32-10829102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006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9B867"/>
                </a:solidFill>
              </a:defRPr>
            </a:pPr>
            <a:r>
              <a:rPr sz="1350" b="1">
                <a:solidFill>
                  <a:srgbClr val="E9B867"/>
                </a:solidFill>
              </a:rPr>
              <a:t>✓</a:t>
            </a:r>
          </a:p>
        </p:txBody>
      </p:sp>
      <p:sp>
        <p:nvSpPr>
          <p:cNvPr id="29" name="text-742-504">
            <a:extLst xmlns:a="http://schemas.openxmlformats.org/drawingml/2006/main">
              <a:ext uri="{FF2B5EF4-FFF2-40B4-BE49-F238E27FC236}">
                <a16:creationId xmlns:a16="http://schemas.microsoft.com/office/drawing/2014/main" id="{13DC6827-F75D-429E-B5DB-66DADFF9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8006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6E5E2"/>
                </a:solidFill>
              </a:defRPr>
            </a:pPr>
            <a:r>
              <a:rPr sz="1275">
                <a:solidFill>
                  <a:srgbClr val="D6E5E2"/>
                </a:solidFill>
              </a:rPr>
              <a:t>Work done → resolve workflow</a:t>
            </a:r>
          </a:p>
        </p:txBody>
      </p:sp>
      <p:sp>
        <p:nvSpPr>
          <p:cNvPr id="30" name="text-706-526">
            <a:extLst xmlns:a="http://schemas.openxmlformats.org/drawingml/2006/main">
              <a:ext uri="{FF2B5EF4-FFF2-40B4-BE49-F238E27FC236}">
                <a16:creationId xmlns:a16="http://schemas.microsoft.com/office/drawing/2014/main" id="{325271BF-0390-4F55-A930-F0BDB8A9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0101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9D4CE"/>
                </a:solidFill>
              </a:defRPr>
            </a:pPr>
            <a:r>
              <a:rPr sz="975">
                <a:solidFill>
                  <a:srgbClr val="B9D4CE"/>
                </a:solidFill>
              </a:rPr>
              <a:t>Future IBM i command execution remains approval-gated and auditable.</a:t>
            </a:r>
          </a:p>
        </p:txBody>
      </p:sp>
      <p:sp>
        <p:nvSpPr>
          <p:cNvPr id="31" name="text-72-676">
            <a:extLst xmlns:a="http://schemas.openxmlformats.org/drawingml/2006/main">
              <a:ext uri="{FF2B5EF4-FFF2-40B4-BE49-F238E27FC236}">
                <a16:creationId xmlns:a16="http://schemas.microsoft.com/office/drawing/2014/main" id="{389A9DBA-6C5C-406F-A9B6-C9D0E92E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3717C"/>
                </a:solidFill>
              </a:defRPr>
            </a:pPr>
            <a:r>
              <a:rPr sz="825">
                <a:solidFill>
                  <a:srgbClr val="63717C"/>
                </a:solidFill>
              </a:rPr>
              <a:t>iMonitor  •  IBM i support, made visible</a:t>
            </a:r>
          </a:p>
        </p:txBody>
      </p:sp>
      <p:sp>
        <p:nvSpPr>
          <p:cNvPr id="32" name="text-1170-676">
            <a:extLst xmlns:a="http://schemas.openxmlformats.org/drawingml/2006/main">
              <a:ext uri="{FF2B5EF4-FFF2-40B4-BE49-F238E27FC236}">
                <a16:creationId xmlns:a16="http://schemas.microsoft.com/office/drawing/2014/main" id="{D66736C0-92AB-49FB-B238-54CDB221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D665D"/>
                </a:solidFill>
              </a:defRPr>
            </a:pPr>
            <a:r>
              <a:rPr sz="825" b="1">
                <a:solidFill>
                  <a:srgbClr val="0D665D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34181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72-58">
            <a:extLst xmlns:a="http://schemas.openxmlformats.org/drawingml/2006/main">
              <a:ext uri="{FF2B5EF4-FFF2-40B4-BE49-F238E27FC236}">
                <a16:creationId xmlns:a16="http://schemas.microsoft.com/office/drawing/2014/main" id="{5F8AF7CA-6FE4-4712-A44C-CB4B76FA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665D"/>
                </a:solidFill>
              </a:defRPr>
            </a:pPr>
            <a:r>
              <a:rPr sz="1125" b="1">
                <a:solidFill>
                  <a:srgbClr val="0D665D"/>
                </a:solidFill>
              </a:rPr>
              <a:t>IBMEYE ALERTS</a:t>
            </a:r>
          </a:p>
        </p:txBody>
      </p:sp>
      <p:sp>
        <p:nvSpPr>
          <p:cNvPr id="2" name="text-72-96">
            <a:extLst xmlns:a="http://schemas.openxmlformats.org/drawingml/2006/main">
              <a:ext uri="{FF2B5EF4-FFF2-40B4-BE49-F238E27FC236}">
                <a16:creationId xmlns:a16="http://schemas.microsoft.com/office/drawing/2014/main" id="{F19C9B84-8890-4ED9-AB54-D3F2384F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232D"/>
                </a:solidFill>
              </a:defRPr>
            </a:pPr>
            <a:r>
              <a:rPr sz="3150" b="1">
                <a:solidFill>
                  <a:srgbClr val="16232D"/>
                </a:solidFill>
              </a:rPr>
              <a:t>Incidents stay visible until the work is understood</a:t>
            </a:r>
          </a:p>
        </p:txBody>
      </p:sp>
      <p:sp>
        <p:nvSpPr>
          <p:cNvPr id="3" name="text-72-178">
            <a:extLst xmlns:a="http://schemas.openxmlformats.org/drawingml/2006/main">
              <a:ext uri="{FF2B5EF4-FFF2-40B4-BE49-F238E27FC236}">
                <a16:creationId xmlns:a16="http://schemas.microsoft.com/office/drawing/2014/main" id="{877597F5-4865-4F76-B332-637752CA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3717C"/>
                </a:solidFill>
              </a:defRPr>
            </a:pPr>
            <a:r>
              <a:rPr sz="1575">
                <a:solidFill>
                  <a:srgbClr val="63717C"/>
                </a:solidFill>
              </a:rPr>
              <a:t>Alerts are more useful when they preserve ownership, evidence, and delivery across the support workflow.</a:t>
            </a:r>
          </a:p>
        </p:txBody>
      </p:sp>
      <p:sp>
        <p:nvSpPr>
          <p:cNvPr id="4" name="shape-72-286">
            <a:extLst xmlns:a="http://schemas.openxmlformats.org/drawingml/2006/main">
              <a:ext uri="{FF2B5EF4-FFF2-40B4-BE49-F238E27FC236}">
                <a16:creationId xmlns:a16="http://schemas.microsoft.com/office/drawing/2014/main" id="{30FBA87A-D802-4EEB-AF88-509C4251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4953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AFBFA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5" name="shape-72-286">
            <a:extLst xmlns:a="http://schemas.openxmlformats.org/drawingml/2006/main">
              <a:ext uri="{FF2B5EF4-FFF2-40B4-BE49-F238E27FC236}">
                <a16:creationId xmlns:a16="http://schemas.microsoft.com/office/drawing/2014/main" id="{104E5F8C-E57E-43FC-95FA-36F42657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95250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7A66"/>
          </a:solidFill>
          <a:ln xmlns:a="http://schemas.openxmlformats.org/drawingml/2006/main" w="9525">
            <a:solidFill>
              <a:srgbClr val="E07A66"/>
            </a:solidFill>
            <a:prstDash val="solid"/>
          </a:ln>
        </p:spPr>
      </p:sp>
      <p:sp>
        <p:nvSpPr>
          <p:cNvPr id="6" name="text-104-306">
            <a:extLst xmlns:a="http://schemas.openxmlformats.org/drawingml/2006/main">
              <a:ext uri="{FF2B5EF4-FFF2-40B4-BE49-F238E27FC236}">
                <a16:creationId xmlns:a16="http://schemas.microsoft.com/office/drawing/2014/main" id="{2339BEA2-3373-44E6-8021-14B61B68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07A66"/>
                </a:solidFill>
              </a:defRPr>
            </a:pPr>
            <a:r>
              <a:rPr sz="1725" b="1">
                <a:solidFill>
                  <a:srgbClr val="E07A66"/>
                </a:solidFill>
              </a:rPr>
              <a:t>Detect</a:t>
            </a:r>
          </a:p>
        </p:txBody>
      </p:sp>
      <p:sp>
        <p:nvSpPr>
          <p:cNvPr id="7" name="text-104-344">
            <a:extLst xmlns:a="http://schemas.openxmlformats.org/drawingml/2006/main">
              <a:ext uri="{FF2B5EF4-FFF2-40B4-BE49-F238E27FC236}">
                <a16:creationId xmlns:a16="http://schemas.microsoft.com/office/drawing/2014/main" id="{9D66F016-387C-4D4B-9870-16ECDC73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766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3717C"/>
                </a:solidFill>
              </a:defRPr>
            </a:pPr>
            <a:r>
              <a:rPr sz="1200">
                <a:solidFill>
                  <a:srgbClr val="63717C"/>
                </a:solidFill>
              </a:rPr>
              <a:t>MSGW, LCKW, high CPU, failed polls, and other IBM i wait conditions.</a:t>
            </a:r>
          </a:p>
        </p:txBody>
      </p:sp>
      <p:sp>
        <p:nvSpPr>
          <p:cNvPr id="8" name="shape-642-286">
            <a:extLst xmlns:a="http://schemas.openxmlformats.org/drawingml/2006/main">
              <a:ext uri="{FF2B5EF4-FFF2-40B4-BE49-F238E27FC236}">
                <a16:creationId xmlns:a16="http://schemas.microsoft.com/office/drawing/2014/main" id="{62707293-37A0-4423-882A-68228851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24150"/>
            <a:ext cx="4953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AFBFA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9" name="shape-642-286">
            <a:extLst xmlns:a="http://schemas.openxmlformats.org/drawingml/2006/main">
              <a:ext uri="{FF2B5EF4-FFF2-40B4-BE49-F238E27FC236}">
                <a16:creationId xmlns:a16="http://schemas.microsoft.com/office/drawing/2014/main" id="{E6345F35-069B-46B9-9121-2F57D543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24150"/>
            <a:ext cx="95250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B867"/>
          </a:solidFill>
          <a:ln xmlns:a="http://schemas.openxmlformats.org/drawingml/2006/main" w="9525">
            <a:solidFill>
              <a:srgbClr val="E9B867"/>
            </a:solidFill>
            <a:prstDash val="solid"/>
          </a:ln>
        </p:spPr>
      </p:sp>
      <p:sp>
        <p:nvSpPr>
          <p:cNvPr id="10" name="text-674-306">
            <a:extLst xmlns:a="http://schemas.openxmlformats.org/drawingml/2006/main">
              <a:ext uri="{FF2B5EF4-FFF2-40B4-BE49-F238E27FC236}">
                <a16:creationId xmlns:a16="http://schemas.microsoft.com/office/drawing/2014/main" id="{73887D39-B883-44C5-9B2A-92728BFD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146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9B867"/>
                </a:solidFill>
              </a:defRPr>
            </a:pPr>
            <a:r>
              <a:rPr sz="1725" b="1">
                <a:solidFill>
                  <a:srgbClr val="E9B867"/>
                </a:solidFill>
              </a:rPr>
              <a:t>Notify</a:t>
            </a:r>
          </a:p>
        </p:txBody>
      </p:sp>
      <p:sp>
        <p:nvSpPr>
          <p:cNvPr id="11" name="text-674-344">
            <a:extLst xmlns:a="http://schemas.openxmlformats.org/drawingml/2006/main">
              <a:ext uri="{FF2B5EF4-FFF2-40B4-BE49-F238E27FC236}">
                <a16:creationId xmlns:a16="http://schemas.microsoft.com/office/drawing/2014/main" id="{825A8FFC-5684-4C1E-99ED-F8A601E1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766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3717C"/>
                </a:solidFill>
              </a:defRPr>
            </a:pPr>
            <a:r>
              <a:rPr sz="1200">
                <a:solidFill>
                  <a:srgbClr val="63717C"/>
                </a:solidFill>
              </a:rPr>
              <a:t>Desktop notifications by default, with Slack and email delivery options.</a:t>
            </a:r>
          </a:p>
        </p:txBody>
      </p:sp>
      <p:sp>
        <p:nvSpPr>
          <p:cNvPr id="12" name="shape-72-440">
            <a:extLst xmlns:a="http://schemas.openxmlformats.org/drawingml/2006/main">
              <a:ext uri="{FF2B5EF4-FFF2-40B4-BE49-F238E27FC236}">
                <a16:creationId xmlns:a16="http://schemas.microsoft.com/office/drawing/2014/main" id="{D8EC1545-45CA-410F-BB18-A8B14B6C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4953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AFBFA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3" name="shape-72-440">
            <a:extLst xmlns:a="http://schemas.openxmlformats.org/drawingml/2006/main">
              <a:ext uri="{FF2B5EF4-FFF2-40B4-BE49-F238E27FC236}">
                <a16:creationId xmlns:a16="http://schemas.microsoft.com/office/drawing/2014/main" id="{AE45F904-AE75-4628-BBC0-2AEDF2E5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95250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65D"/>
          </a:solidFill>
          <a:ln xmlns:a="http://schemas.openxmlformats.org/drawingml/2006/main" w="9525">
            <a:solidFill>
              <a:srgbClr val="0D665D"/>
            </a:solidFill>
            <a:prstDash val="solid"/>
          </a:ln>
        </p:spPr>
      </p:sp>
      <p:sp>
        <p:nvSpPr>
          <p:cNvPr id="14" name="text-104-460">
            <a:extLst xmlns:a="http://schemas.openxmlformats.org/drawingml/2006/main">
              <a:ext uri="{FF2B5EF4-FFF2-40B4-BE49-F238E27FC236}">
                <a16:creationId xmlns:a16="http://schemas.microsoft.com/office/drawing/2014/main" id="{6DE9284B-EB35-4B95-B8C2-04D14E2D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665D"/>
                </a:solidFill>
              </a:defRPr>
            </a:pPr>
            <a:r>
              <a:rPr sz="1725" b="1">
                <a:solidFill>
                  <a:srgbClr val="0D665D"/>
                </a:solidFill>
              </a:rPr>
              <a:t>Work</a:t>
            </a:r>
          </a:p>
        </p:txBody>
      </p:sp>
      <p:sp>
        <p:nvSpPr>
          <p:cNvPr id="15" name="text-104-498">
            <a:extLst xmlns:a="http://schemas.openxmlformats.org/drawingml/2006/main">
              <a:ext uri="{FF2B5EF4-FFF2-40B4-BE49-F238E27FC236}">
                <a16:creationId xmlns:a16="http://schemas.microsoft.com/office/drawing/2014/main" id="{1AB1D980-C4F7-47E7-88E2-7ABC0436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434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3717C"/>
                </a:solidFill>
              </a:defRPr>
            </a:pPr>
            <a:r>
              <a:rPr sz="1200">
                <a:solidFill>
                  <a:srgbClr val="63717C"/>
                </a:solidFill>
              </a:rPr>
              <a:t>A support person can claim an incident, add notes, and create a ClickUp task when needed.</a:t>
            </a:r>
          </a:p>
        </p:txBody>
      </p:sp>
      <p:sp>
        <p:nvSpPr>
          <p:cNvPr id="16" name="shape-642-440">
            <a:extLst xmlns:a="http://schemas.openxmlformats.org/drawingml/2006/main">
              <a:ext uri="{FF2B5EF4-FFF2-40B4-BE49-F238E27FC236}">
                <a16:creationId xmlns:a16="http://schemas.microsoft.com/office/drawing/2014/main" id="{941D64F5-7343-4BF1-A381-588E8DDD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91000"/>
            <a:ext cx="4953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AFBFA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7" name="shape-642-440">
            <a:extLst xmlns:a="http://schemas.openxmlformats.org/drawingml/2006/main">
              <a:ext uri="{FF2B5EF4-FFF2-40B4-BE49-F238E27FC236}">
                <a16:creationId xmlns:a16="http://schemas.microsoft.com/office/drawing/2014/main" id="{9D8D98A5-ABF9-4AB0-97F1-F06D2633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91000"/>
            <a:ext cx="95250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3C52"/>
          </a:solidFill>
          <a:ln xmlns:a="http://schemas.openxmlformats.org/drawingml/2006/main" w="9525">
            <a:solidFill>
              <a:srgbClr val="153C52"/>
            </a:solidFill>
            <a:prstDash val="solid"/>
          </a:ln>
        </p:spPr>
      </p:sp>
      <p:sp>
        <p:nvSpPr>
          <p:cNvPr id="18" name="text-674-460">
            <a:extLst xmlns:a="http://schemas.openxmlformats.org/drawingml/2006/main">
              <a:ext uri="{FF2B5EF4-FFF2-40B4-BE49-F238E27FC236}">
                <a16:creationId xmlns:a16="http://schemas.microsoft.com/office/drawing/2014/main" id="{A34D438F-19C6-4C08-BE94-D1BE802E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815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3C52"/>
                </a:solidFill>
              </a:defRPr>
            </a:pPr>
            <a:r>
              <a:rPr sz="1725" b="1">
                <a:solidFill>
                  <a:srgbClr val="153C52"/>
                </a:solidFill>
              </a:rPr>
              <a:t>Recheck</a:t>
            </a:r>
          </a:p>
        </p:txBody>
      </p:sp>
      <p:sp>
        <p:nvSpPr>
          <p:cNvPr id="19" name="text-674-498">
            <a:extLst xmlns:a="http://schemas.openxmlformats.org/drawingml/2006/main">
              <a:ext uri="{FF2B5EF4-FFF2-40B4-BE49-F238E27FC236}">
                <a16:creationId xmlns:a16="http://schemas.microsoft.com/office/drawing/2014/main" id="{0FCC4EFC-4D3F-46B1-855D-878E532A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434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3717C"/>
                </a:solidFill>
              </a:defRPr>
            </a:pPr>
            <a:r>
              <a:rPr sz="1200">
                <a:solidFill>
                  <a:srgbClr val="63717C"/>
                </a:solidFill>
              </a:rPr>
              <a:t>The issue can be rechecked and automatically cleared when the system recovers.</a:t>
            </a:r>
          </a:p>
        </p:txBody>
      </p:sp>
      <p:sp>
        <p:nvSpPr>
          <p:cNvPr id="20" name="text-72-676">
            <a:extLst xmlns:a="http://schemas.openxmlformats.org/drawingml/2006/main">
              <a:ext uri="{FF2B5EF4-FFF2-40B4-BE49-F238E27FC236}">
                <a16:creationId xmlns:a16="http://schemas.microsoft.com/office/drawing/2014/main" id="{3F469E17-286E-47F8-A169-6483EA98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3717C"/>
                </a:solidFill>
              </a:defRPr>
            </a:pPr>
            <a:r>
              <a:rPr sz="825">
                <a:solidFill>
                  <a:srgbClr val="63717C"/>
                </a:solidFill>
              </a:rPr>
              <a:t>iMonitor  •  IBM i support, made visible</a:t>
            </a:r>
          </a:p>
        </p:txBody>
      </p:sp>
      <p:sp>
        <p:nvSpPr>
          <p:cNvPr id="21" name="text-1170-676">
            <a:extLst xmlns:a="http://schemas.openxmlformats.org/drawingml/2006/main">
              <a:ext uri="{FF2B5EF4-FFF2-40B4-BE49-F238E27FC236}">
                <a16:creationId xmlns:a16="http://schemas.microsoft.com/office/drawing/2014/main" id="{61020112-3AAB-4594-AE1D-E5BFC09B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D665D"/>
                </a:solidFill>
              </a:defRPr>
            </a:pPr>
            <a:r>
              <a:rPr sz="825" b="1">
                <a:solidFill>
                  <a:srgbClr val="0D665D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976240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72-58">
            <a:extLst xmlns:a="http://schemas.openxmlformats.org/drawingml/2006/main">
              <a:ext uri="{FF2B5EF4-FFF2-40B4-BE49-F238E27FC236}">
                <a16:creationId xmlns:a16="http://schemas.microsoft.com/office/drawing/2014/main" id="{07FAA1EE-0EC5-49F4-BF8E-3F569C00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665D"/>
                </a:solidFill>
              </a:defRPr>
            </a:pPr>
            <a:r>
              <a:rPr sz="1125" b="1">
                <a:solidFill>
                  <a:srgbClr val="0D665D"/>
                </a:solidFill>
              </a:rPr>
              <a:t>IBMEYE AI</a:t>
            </a:r>
          </a:p>
        </p:txBody>
      </p:sp>
      <p:sp>
        <p:nvSpPr>
          <p:cNvPr id="2" name="text-72-96">
            <a:extLst xmlns:a="http://schemas.openxmlformats.org/drawingml/2006/main">
              <a:ext uri="{FF2B5EF4-FFF2-40B4-BE49-F238E27FC236}">
                <a16:creationId xmlns:a16="http://schemas.microsoft.com/office/drawing/2014/main" id="{B1C2E47F-A8E1-4987-9E5C-70B55F11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232D"/>
                </a:solidFill>
              </a:defRPr>
            </a:pPr>
            <a:r>
              <a:rPr sz="3150" b="1">
                <a:solidFill>
                  <a:srgbClr val="16232D"/>
                </a:solidFill>
              </a:rPr>
              <a:t>Useful AI, grounded in the operator’s evidence</a:t>
            </a:r>
          </a:p>
        </p:txBody>
      </p:sp>
      <p:sp>
        <p:nvSpPr>
          <p:cNvPr id="3" name="text-72-178">
            <a:extLst xmlns:a="http://schemas.openxmlformats.org/drawingml/2006/main">
              <a:ext uri="{FF2B5EF4-FFF2-40B4-BE49-F238E27FC236}">
                <a16:creationId xmlns:a16="http://schemas.microsoft.com/office/drawing/2014/main" id="{40AA00FE-9435-49A8-B5F0-431B1BC6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3717C"/>
                </a:solidFill>
              </a:defRPr>
            </a:pPr>
            <a:r>
              <a:rPr sz="1575">
                <a:solidFill>
                  <a:srgbClr val="63717C"/>
                </a:solidFill>
              </a:rPr>
              <a:t>The assistant turns live context into a short explanation, likely cause, and next best action.</a:t>
            </a:r>
          </a:p>
        </p:txBody>
      </p:sp>
      <p:sp>
        <p:nvSpPr>
          <p:cNvPr id="4" name="shape-72-290">
            <a:extLst xmlns:a="http://schemas.openxmlformats.org/drawingml/2006/main">
              <a:ext uri="{FF2B5EF4-FFF2-40B4-BE49-F238E27FC236}">
                <a16:creationId xmlns:a16="http://schemas.microsoft.com/office/drawing/2014/main" id="{60B50ECD-CC8B-4440-B9B8-7DEEB0F9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4762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53C52"/>
          </a:solidFill>
          <a:ln xmlns:a="http://schemas.openxmlformats.org/drawingml/2006/main" w="9525">
            <a:solidFill>
              <a:srgbClr val="153C52"/>
            </a:solidFill>
            <a:prstDash val="solid"/>
          </a:ln>
        </p:spPr>
      </p:sp>
      <p:sp>
        <p:nvSpPr>
          <p:cNvPr id="5" name="shape-104-320">
            <a:extLst xmlns:a="http://schemas.openxmlformats.org/drawingml/2006/main">
              <a:ext uri="{FF2B5EF4-FFF2-40B4-BE49-F238E27FC236}">
                <a16:creationId xmlns:a16="http://schemas.microsoft.com/office/drawing/2014/main" id="{55D4E1E9-9D13-4CED-8594-FB809528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48000"/>
            <a:ext cx="2095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C5665"/>
          </a:solidFill>
          <a:ln xmlns:a="http://schemas.openxmlformats.org/drawingml/2006/main" w="9525">
            <a:solidFill>
              <a:srgbClr val="2C5665"/>
            </a:solidFill>
            <a:prstDash val="solid"/>
          </a:ln>
        </p:spPr>
      </p:sp>
      <p:sp>
        <p:nvSpPr>
          <p:cNvPr id="6" name="text-118-322">
            <a:extLst xmlns:a="http://schemas.openxmlformats.org/drawingml/2006/main">
              <a:ext uri="{FF2B5EF4-FFF2-40B4-BE49-F238E27FC236}">
                <a16:creationId xmlns:a16="http://schemas.microsoft.com/office/drawing/2014/main" id="{9DDE73F6-0A5C-446A-A0D3-E93BD7D0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6705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Ollama • gemma3:latest</a:t>
            </a:r>
          </a:p>
        </p:txBody>
      </p:sp>
      <p:sp>
        <p:nvSpPr>
          <p:cNvPr id="7" name="text-104-384">
            <a:extLst xmlns:a="http://schemas.openxmlformats.org/drawingml/2006/main">
              <a:ext uri="{FF2B5EF4-FFF2-40B4-BE49-F238E27FC236}">
                <a16:creationId xmlns:a16="http://schemas.microsoft.com/office/drawing/2014/main" id="{0BA79249-7917-40CC-953B-4055246C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576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“Why is this job waiting?”</a:t>
            </a:r>
          </a:p>
        </p:txBody>
      </p:sp>
      <p:sp>
        <p:nvSpPr>
          <p:cNvPr id="8" name="text-104-444">
            <a:extLst xmlns:a="http://schemas.openxmlformats.org/drawingml/2006/main">
              <a:ext uri="{FF2B5EF4-FFF2-40B4-BE49-F238E27FC236}">
                <a16:creationId xmlns:a16="http://schemas.microsoft.com/office/drawing/2014/main" id="{9922970F-BEC8-4E5C-889A-2B28F72D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29100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6E5E2"/>
                </a:solidFill>
              </a:defRPr>
            </a:pPr>
            <a:r>
              <a:rPr sz="1275">
                <a:solidFill>
                  <a:srgbClr val="D6E5E2"/>
                </a:solidFill>
              </a:rPr>
              <a:t>Answers can use jobs, alerts, timestamps, SQL traces, history, and operator logs—without leaving the monitor.</a:t>
            </a:r>
          </a:p>
        </p:txBody>
      </p:sp>
      <p:sp>
        <p:nvSpPr>
          <p:cNvPr id="9" name="shape-632-290">
            <a:extLst xmlns:a="http://schemas.openxmlformats.org/drawingml/2006/main">
              <a:ext uri="{FF2B5EF4-FFF2-40B4-BE49-F238E27FC236}">
                <a16:creationId xmlns:a16="http://schemas.microsoft.com/office/drawing/2014/main" id="{FE77E0C7-E7FE-4C54-B507-3106704F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62250"/>
            <a:ext cx="54864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0" name="text-668-320">
            <a:extLst xmlns:a="http://schemas.openxmlformats.org/drawingml/2006/main">
              <a:ext uri="{FF2B5EF4-FFF2-40B4-BE49-F238E27FC236}">
                <a16:creationId xmlns:a16="http://schemas.microsoft.com/office/drawing/2014/main" id="{AA443C9A-73EB-4619-B09F-CEC9CE1C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48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C5CE7"/>
                </a:solidFill>
              </a:defRPr>
            </a:pPr>
            <a:r>
              <a:rPr sz="1125" b="1">
                <a:solidFill>
                  <a:srgbClr val="6C5CE7"/>
                </a:solidFill>
              </a:rPr>
              <a:t>IBMEye AI response</a:t>
            </a:r>
          </a:p>
        </p:txBody>
      </p:sp>
      <p:sp>
        <p:nvSpPr>
          <p:cNvPr id="11" name="text-668-366">
            <a:extLst xmlns:a="http://schemas.openxmlformats.org/drawingml/2006/main">
              <a:ext uri="{FF2B5EF4-FFF2-40B4-BE49-F238E27FC236}">
                <a16:creationId xmlns:a16="http://schemas.microsoft.com/office/drawing/2014/main" id="{90977AE4-7114-4B82-AFD5-BA28E06A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861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6232D"/>
                </a:solidFill>
              </a:defRPr>
            </a:pPr>
            <a:r>
              <a:rPr sz="1275" b="1">
                <a:solidFill>
                  <a:srgbClr val="16232D"/>
                </a:solidFill>
              </a:rPr>
              <a:t>What happened</a:t>
            </a:r>
          </a:p>
        </p:txBody>
      </p:sp>
      <p:sp>
        <p:nvSpPr>
          <p:cNvPr id="12" name="text-668-394">
            <a:extLst xmlns:a="http://schemas.openxmlformats.org/drawingml/2006/main">
              <a:ext uri="{FF2B5EF4-FFF2-40B4-BE49-F238E27FC236}">
                <a16:creationId xmlns:a16="http://schemas.microsoft.com/office/drawing/2014/main" id="{29FEF6E2-CA39-4A6D-9645-7CDF3ACA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52850"/>
            <a:ext cx="438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3717C"/>
                </a:solidFill>
              </a:defRPr>
            </a:pPr>
            <a:r>
              <a:rPr sz="1200">
                <a:solidFill>
                  <a:srgbClr val="63717C"/>
                </a:solidFill>
              </a:rPr>
              <a:t>QINTER/MSGWJOB is waiting for an operator reply.</a:t>
            </a:r>
          </a:p>
        </p:txBody>
      </p:sp>
      <p:sp>
        <p:nvSpPr>
          <p:cNvPr id="13" name="text-668-438">
            <a:extLst xmlns:a="http://schemas.openxmlformats.org/drawingml/2006/main">
              <a:ext uri="{FF2B5EF4-FFF2-40B4-BE49-F238E27FC236}">
                <a16:creationId xmlns:a16="http://schemas.microsoft.com/office/drawing/2014/main" id="{FD6FCBA1-8B54-4018-B2E8-26C68649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7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6232D"/>
                </a:solidFill>
              </a:defRPr>
            </a:pPr>
            <a:r>
              <a:rPr sz="1275" b="1">
                <a:solidFill>
                  <a:srgbClr val="16232D"/>
                </a:solidFill>
              </a:rPr>
              <a:t>What to check next</a:t>
            </a:r>
          </a:p>
        </p:txBody>
      </p:sp>
      <p:sp>
        <p:nvSpPr>
          <p:cNvPr id="14" name="text-668-466">
            <a:extLst xmlns:a="http://schemas.openxmlformats.org/drawingml/2006/main">
              <a:ext uri="{FF2B5EF4-FFF2-40B4-BE49-F238E27FC236}">
                <a16:creationId xmlns:a16="http://schemas.microsoft.com/office/drawing/2014/main" id="{1C405AF7-59EA-4114-A43F-F75F2164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38650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3717C"/>
                </a:solidFill>
              </a:defRPr>
            </a:pPr>
            <a:r>
              <a:rPr sz="1200">
                <a:solidFill>
                  <a:srgbClr val="63717C"/>
                </a:solidFill>
              </a:rPr>
              <a:t>Review the message queue, current SQL, and recent status changes before replying.</a:t>
            </a:r>
          </a:p>
        </p:txBody>
      </p:sp>
      <p:sp>
        <p:nvSpPr>
          <p:cNvPr id="15" name="text-72-676">
            <a:extLst xmlns:a="http://schemas.openxmlformats.org/drawingml/2006/main">
              <a:ext uri="{FF2B5EF4-FFF2-40B4-BE49-F238E27FC236}">
                <a16:creationId xmlns:a16="http://schemas.microsoft.com/office/drawing/2014/main" id="{4FF7F5AD-D74A-4088-BA22-2C86154E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3717C"/>
                </a:solidFill>
              </a:defRPr>
            </a:pPr>
            <a:r>
              <a:rPr sz="825">
                <a:solidFill>
                  <a:srgbClr val="63717C"/>
                </a:solidFill>
              </a:rPr>
              <a:t>iMonitor  •  IBM i support, made visible</a:t>
            </a:r>
          </a:p>
        </p:txBody>
      </p:sp>
      <p:sp>
        <p:nvSpPr>
          <p:cNvPr id="16" name="text-1170-676">
            <a:extLst xmlns:a="http://schemas.openxmlformats.org/drawingml/2006/main">
              <a:ext uri="{FF2B5EF4-FFF2-40B4-BE49-F238E27FC236}">
                <a16:creationId xmlns:a16="http://schemas.microsoft.com/office/drawing/2014/main" id="{968A129D-2C40-4A00-96CD-A7B286B2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D665D"/>
                </a:solidFill>
              </a:defRPr>
            </a:pPr>
            <a:r>
              <a:rPr sz="825" b="1">
                <a:solidFill>
                  <a:srgbClr val="0D665D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341078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6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72-70">
            <a:extLst xmlns:a="http://schemas.openxmlformats.org/drawingml/2006/main">
              <a:ext uri="{FF2B5EF4-FFF2-40B4-BE49-F238E27FC236}">
                <a16:creationId xmlns:a16="http://schemas.microsoft.com/office/drawing/2014/main" id="{75A6F08E-5CC5-4864-89D1-8880E931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9B867"/>
                </a:solidFill>
              </a:defRPr>
            </a:pPr>
            <a:r>
              <a:rPr sz="1125" b="1">
                <a:solidFill>
                  <a:srgbClr val="E9B867"/>
                </a:solidFill>
              </a:rPr>
              <a:t>THE DIRECTION</a:t>
            </a:r>
          </a:p>
        </p:txBody>
      </p:sp>
      <p:sp>
        <p:nvSpPr>
          <p:cNvPr id="2" name="text-72-120">
            <a:extLst xmlns:a="http://schemas.openxmlformats.org/drawingml/2006/main">
              <a:ext uri="{FF2B5EF4-FFF2-40B4-BE49-F238E27FC236}">
                <a16:creationId xmlns:a16="http://schemas.microsoft.com/office/drawing/2014/main" id="{1AA1CA87-0F81-402A-BFDF-56FE0E26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666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From monitoring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to confident action.</a:t>
            </a:r>
          </a:p>
        </p:txBody>
      </p:sp>
      <p:sp>
        <p:nvSpPr>
          <p:cNvPr id="3" name="text-76-302">
            <a:extLst xmlns:a="http://schemas.openxmlformats.org/drawingml/2006/main">
              <a:ext uri="{FF2B5EF4-FFF2-40B4-BE49-F238E27FC236}">
                <a16:creationId xmlns:a16="http://schemas.microsoft.com/office/drawing/2014/main" id="{5EBCDF18-5608-4040-86E3-EFE6CF75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C9DED9"/>
                </a:solidFill>
              </a:defRPr>
            </a:pPr>
            <a:r>
              <a:rPr sz="1650">
                <a:solidFill>
                  <a:srgbClr val="C9DED9"/>
                </a:solidFill>
              </a:rPr>
              <a:t>The foundation is in place. The next layer is IBM i-specific incident correlation, guided runbooks, and approval-gated operator actions—with every decision auditable.</a:t>
            </a:r>
          </a:p>
        </p:txBody>
      </p:sp>
      <p:sp>
        <p:nvSpPr>
          <p:cNvPr id="4" name="shape-76-466">
            <a:extLst xmlns:a="http://schemas.openxmlformats.org/drawingml/2006/main">
              <a:ext uri="{FF2B5EF4-FFF2-40B4-BE49-F238E27FC236}">
                <a16:creationId xmlns:a16="http://schemas.microsoft.com/office/drawing/2014/main" id="{EF8F5AC2-1B30-407B-A2D2-8751C601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7239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D8175"/>
          </a:solidFill>
          <a:ln xmlns:a="http://schemas.openxmlformats.org/drawingml/2006/main" w="9525">
            <a:solidFill>
              <a:srgbClr val="4A9D91"/>
            </a:solidFill>
            <a:prstDash val="solid"/>
          </a:ln>
        </p:spPr>
      </p:sp>
      <p:sp>
        <p:nvSpPr>
          <p:cNvPr id="5" name="text-108-490">
            <a:extLst xmlns:a="http://schemas.openxmlformats.org/drawingml/2006/main">
              <a:ext uri="{FF2B5EF4-FFF2-40B4-BE49-F238E27FC236}">
                <a16:creationId xmlns:a16="http://schemas.microsoft.com/office/drawing/2014/main" id="{3BF9F6F4-D254-4420-A311-7FA78314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I built iMonitor because IBM i support deserves a modern, focused tool that helps people see what matters and move work forward.</a:t>
            </a:r>
          </a:p>
        </p:txBody>
      </p:sp>
      <p:sp>
        <p:nvSpPr>
          <p:cNvPr id="6" name="text-76-620">
            <a:extLst xmlns:a="http://schemas.openxmlformats.org/drawingml/2006/main">
              <a:ext uri="{FF2B5EF4-FFF2-40B4-BE49-F238E27FC236}">
                <a16:creationId xmlns:a16="http://schemas.microsoft.com/office/drawing/2014/main" id="{4C9EACDB-1E3F-4388-8146-4691964D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9B867"/>
                </a:solidFill>
              </a:defRPr>
            </a:pPr>
            <a:r>
              <a:rPr sz="1350" b="1">
                <a:solidFill>
                  <a:srgbClr val="E9B867"/>
                </a:solidFill>
              </a:rPr>
              <a:t>Thank you for taking a look.</a:t>
            </a:r>
          </a:p>
        </p:txBody>
      </p:sp>
      <p:sp>
        <p:nvSpPr>
          <p:cNvPr id="7" name="text-950-650">
            <a:extLst xmlns:a="http://schemas.openxmlformats.org/drawingml/2006/main">
              <a:ext uri="{FF2B5EF4-FFF2-40B4-BE49-F238E27FC236}">
                <a16:creationId xmlns:a16="http://schemas.microsoft.com/office/drawing/2014/main" id="{D354C88F-71C2-447F-A96E-3C93B3AE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1912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C9DED9"/>
                </a:solidFill>
              </a:defRPr>
            </a:pPr>
            <a:r>
              <a:rPr sz="1050">
                <a:solidFill>
                  <a:srgbClr val="C9DED9"/>
                </a:solidFill>
              </a:rPr>
              <a:t>iMonitor  •  Gajender Tyagi</a:t>
            </a:r>
          </a:p>
        </p:txBody>
      </p:sp>
    </p:spTree>
    <p:extLst>
      <p:ext uri="{BB962C8B-B14F-4D97-AF65-F5344CB8AC3E}">
        <p14:creationId xmlns:p14="http://schemas.microsoft.com/office/powerpoint/2010/main" val="12402319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2026-08-31T17:07:52.3800000Z</dcterms:created>
  <dcterms:modified xsi:type="dcterms:W3CDTF">2026-08-31T17:07:52.3800000Z</dcterms:modified>
</coreProperties>
</file>